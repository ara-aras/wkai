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1" r:id="rId50"/>
    <p:sldId id="32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D582C"/>
              </a:solidFill>
            </c:spPr>
            <c:extLst>
              <c:ext xmlns:c16="http://schemas.microsoft.com/office/drawing/2014/chart" uri="{C3380CC4-5D6E-409C-BE32-E72D297353CC}">
                <c16:uniqueId val="{00000001-F2DF-4922-9990-6F595C7B2BF9}"/>
              </c:ext>
            </c:extLst>
          </c:dPt>
          <c:dPt>
            <c:idx val="1"/>
            <c:invertIfNegative val="1"/>
            <c:bubble3D val="0"/>
            <c:spPr>
              <a:solidFill>
                <a:srgbClr val="008996"/>
              </a:solidFill>
            </c:spPr>
            <c:extLst>
              <c:ext xmlns:c16="http://schemas.microsoft.com/office/drawing/2014/chart" uri="{C3380CC4-5D6E-409C-BE32-E72D297353CC}">
                <c16:uniqueId val="{00000003-F2DF-4922-9990-6F595C7B2BF9}"/>
              </c:ext>
            </c:extLst>
          </c:dPt>
          <c:dPt>
            <c:idx val="2"/>
            <c:invertIfNegative val="1"/>
            <c:bubble3D val="0"/>
            <c:spPr>
              <a:solidFill>
                <a:srgbClr val="8CC4C9"/>
              </a:solidFill>
            </c:spPr>
            <c:extLst>
              <c:ext xmlns:c16="http://schemas.microsoft.com/office/drawing/2014/chart" uri="{C3380CC4-5D6E-409C-BE32-E72D297353CC}">
                <c16:uniqueId val="{00000005-F2DF-4922-9990-6F595C7B2BF9}"/>
              </c:ext>
            </c:extLst>
          </c:dPt>
          <c:dPt>
            <c:idx val="3"/>
            <c:invertIfNegative val="1"/>
            <c:bubble3D val="0"/>
            <c:spPr>
              <a:solidFill>
                <a:srgbClr val="142F4E"/>
              </a:solidFill>
            </c:spPr>
            <c:extLst>
              <c:ext xmlns:c16="http://schemas.microsoft.com/office/drawing/2014/chart" uri="{C3380CC4-5D6E-409C-BE32-E72D297353CC}">
                <c16:uniqueId val="{00000007-F2DF-4922-9990-6F595C7B2BF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32A3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JPEG encode (old)</c:v>
                </c:pt>
                <c:pt idx="1">
                  <c:v>JPEG encode (SIMD)</c:v>
                </c:pt>
                <c:pt idx="2">
                  <c:v>Colour convert</c:v>
                </c:pt>
                <c:pt idx="3">
                  <c:v>Capture 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17.2</c:v>
                </c:pt>
                <c:pt idx="2">
                  <c:v>2.6</c:v>
                </c:pt>
                <c:pt idx="3">
                  <c:v>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DF-4922-9990-6F595C7B2B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DAE0"/>
            </a:solidFill>
          </a:ln>
        </c:spPr>
        <c:txPr>
          <a:bodyPr/>
          <a:lstStyle/>
          <a:p>
            <a:pPr>
              <a:defRPr sz="1100">
                <a:solidFill>
                  <a:srgbClr val="232A3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"/>
          <c:min val="0"/>
        </c:scaling>
        <c:delete val="0"/>
        <c:axPos val="b"/>
        <c:majorGridlines>
          <c:spPr>
            <a:ln>
              <a:solidFill>
                <a:srgbClr val="E6EB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97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CC4C9"/>
              </a:solidFill>
            </c:spPr>
            <c:extLst>
              <c:ext xmlns:c16="http://schemas.microsoft.com/office/drawing/2014/chart" uri="{C3380CC4-5D6E-409C-BE32-E72D297353CC}">
                <c16:uniqueId val="{00000001-43A8-4A31-87FF-DD8A522B5D64}"/>
              </c:ext>
            </c:extLst>
          </c:dPt>
          <c:dPt>
            <c:idx val="1"/>
            <c:invertIfNegative val="1"/>
            <c:bubble3D val="0"/>
            <c:spPr>
              <a:solidFill>
                <a:srgbClr val="008996"/>
              </a:solidFill>
            </c:spPr>
            <c:extLst>
              <c:ext xmlns:c16="http://schemas.microsoft.com/office/drawing/2014/chart" uri="{C3380CC4-5D6E-409C-BE32-E72D297353CC}">
                <c16:uniqueId val="{00000003-43A8-4A31-87FF-DD8A522B5D64}"/>
              </c:ext>
            </c:extLst>
          </c:dPt>
          <c:dPt>
            <c:idx val="2"/>
            <c:invertIfNegative val="1"/>
            <c:bubble3D val="0"/>
            <c:spPr>
              <a:solidFill>
                <a:srgbClr val="006B75"/>
              </a:solidFill>
            </c:spPr>
            <c:extLst>
              <c:ext xmlns:c16="http://schemas.microsoft.com/office/drawing/2014/chart" uri="{C3380CC4-5D6E-409C-BE32-E72D297353CC}">
                <c16:uniqueId val="{00000005-43A8-4A31-87FF-DD8A522B5D64}"/>
              </c:ext>
            </c:extLst>
          </c:dPt>
          <c:dPt>
            <c:idx val="3"/>
            <c:invertIfNegative val="1"/>
            <c:bubble3D val="0"/>
            <c:spPr>
              <a:solidFill>
                <a:srgbClr val="142F4E"/>
              </a:solidFill>
            </c:spPr>
            <c:extLst>
              <c:ext xmlns:c16="http://schemas.microsoft.com/office/drawing/2014/chart" uri="{C3380CC4-5D6E-409C-BE32-E72D297353CC}">
                <c16:uniqueId val="{00000007-43A8-4A31-87FF-DD8A522B5D6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32A3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MCP</c:v>
                </c:pt>
                <c:pt idx="1">
                  <c:v>API + WebSocket</c:v>
                </c:pt>
                <c:pt idx="2">
                  <c:v>Playwright browser</c:v>
                </c:pt>
                <c:pt idx="3">
                  <c:v>Backend unit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16</c:v>
                </c:pt>
                <c:pt idx="2">
                  <c:v>26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A8-4A31-87FF-DD8A522B5D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DAE0"/>
            </a:solidFill>
          </a:ln>
        </c:spPr>
        <c:txPr>
          <a:bodyPr/>
          <a:lstStyle/>
          <a:p>
            <a:pPr>
              <a:defRPr sz="1100">
                <a:solidFill>
                  <a:srgbClr val="232A3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b"/>
        <c:majorGridlines>
          <c:spPr>
            <a:ln>
              <a:solidFill>
                <a:srgbClr val="E6EB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97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90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WKAI follows a live coding workshop with AI and turns it into a written guide, comprehension checks and error help while the class is still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Context: the tools used for live teaching either stream without understanding, or store content that was prepared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Motivation: the three things instructors want after class can all be derived from data the class already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Domain: conferencing, LMS and AI coding assistants each miss the in-session understanding WKAI provides.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problem statement from the report, then show the illustration: everything after the conferencing tool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sub-problem needs its own design answer because each fails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objectives, each mapped to where its result is shown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Scope: everything in the left column can be demonstrated by starting the apps and joining from a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paper maps to one design decision in WKAI.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Continued literature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gap is integration under real-time constraints, not a better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signals in, five kinds of help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features that the rest of the talk demonstrates.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FR-2 is partially verified because media is still tested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apps, one backend contract. The media path is separate from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invariants account for most of the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Postgres records only what must survive 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token decides who you are; these message types carry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steps from starting a session to supporting a stuck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sequence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gates reject rather than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graphs put cheap steps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Environment and tools used to build and test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encoder was the ceiling until the SIMD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uplink no longer grows with class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original design let the client assert its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AI capability is an agent behind one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version bump is automated because builds once shared a version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modules and where they live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Assessments end to end, and the MCP tool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from the running system in a seeded demo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cases from the report, most written after a real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five objectives met, with caveats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encoder was the ceiling; now capture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stated so the real-time claim is 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suites plus build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code base, so every comparison is like for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Comparison uses each paper's own stated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work ordered by what users can see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Outcomes the coordinator verifies.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IEEE style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IEEE style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BB9D-3037-9598-73AA-7DEE187C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DBABF-B4E2-C3BD-25D4-18D359A3D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3DE50-506F-10FD-DB0F-9A6A7ACCF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IEEE style references.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F4330-E668-A124-5570-60FABBB9E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28431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 QR codes open the live student app and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09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9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6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4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2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7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6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93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04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9969" y="648132"/>
            <a:ext cx="628729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>
                <a:latin typeface="Aptos Display"/>
              </a:rPr>
              <a:t>MAJOR PROJECT – PHASE II</a:t>
            </a:r>
          </a:p>
        </p:txBody>
      </p:sp>
      <p:pic>
        <p:nvPicPr>
          <p:cNvPr id="3" name="Picture 2" descr="PA_COLLEG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43" y="288758"/>
            <a:ext cx="1779069" cy="13343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964" y="413243"/>
            <a:ext cx="1284120" cy="1325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541"/>
            <a:ext cx="110916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7030A0"/>
                </a:solidFill>
                <a:latin typeface="Aptos Display"/>
              </a:rPr>
              <a:t>WKAI – Workshop AI: A Real-Time AI-Assisted Workshop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9213" y="2348310"/>
            <a:ext cx="6096000" cy="23955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b="1" dirty="0">
                <a:solidFill>
                  <a:srgbClr val="FF0000"/>
                </a:solidFill>
              </a:rPr>
              <a:t>Presented by:  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b="1" dirty="0">
                <a:solidFill>
                  <a:srgbClr val="00B050"/>
                </a:solidFill>
              </a:rPr>
              <a:t>Team ID: 23CSMPB03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Mustafa Muhammad Abdulla : 4PA22CS092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Mohammed Shammas I : 4PA23CS083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Mohammed Zahid Ibrahim : 4PA23CS085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Rafan Ahamad Sheik : 4PA23CS102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-259710" y="4713930"/>
            <a:ext cx="5131843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b="1" dirty="0">
                <a:solidFill>
                  <a:srgbClr val="FF0000"/>
                </a:solidFill>
              </a:rPr>
              <a:t>Guide: 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Prof. Habeeb Ur Rehman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Assistant Professor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Department of CSE, 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2292" y="4983610"/>
            <a:ext cx="5035808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b="1" dirty="0">
                <a:solidFill>
                  <a:srgbClr val="FF0000"/>
                </a:solidFill>
              </a:rPr>
              <a:t>Coordinator(s): 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Dr. Hafeez MK / Prof. Sakeena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Department of CSE, PACE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4094" y="649224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dirty="0">
                <a:solidFill>
                  <a:srgbClr val="000000"/>
                </a:solidFill>
                <a:latin typeface="Aptos"/>
              </a:rPr>
              <a:t>1</a:t>
            </a:r>
            <a:endParaRPr sz="900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2172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Introduction / Background –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Live coding workshops run on Zoom / Meet or an LMS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Conferencing tools move pixels; they do not understand the content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LMS platforms work before and after class, not during it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What is typed, said and debugged live is shown once, then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 – What a student loses in a live coding session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72200" y="1627631"/>
            <a:ext cx="566928" cy="56692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554480"/>
            <a:ext cx="4251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Looks away for thirty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20239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A6978"/>
                </a:solidFill>
                <a:latin typeface="Aptos"/>
              </a:rPr>
              <a:t>No way to catch up without interrupting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468880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72200" y="2633472"/>
            <a:ext cx="566928" cy="56692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ERR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60320"/>
            <a:ext cx="4251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Hits an environment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92608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A6978"/>
                </a:solidFill>
                <a:latin typeface="Aptos"/>
              </a:rPr>
              <a:t>The whole class stops for one typo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72200" y="3639312"/>
            <a:ext cx="566928" cy="56692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566160"/>
            <a:ext cx="4251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The session 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9319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A6978"/>
                </a:solidFill>
                <a:latin typeface="Aptos"/>
              </a:rPr>
              <a:t>No written record beyond own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480560"/>
            <a:ext cx="52578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72200" y="4645152"/>
            <a:ext cx="566928" cy="56692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72000"/>
            <a:ext cx="4251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Is quietly confused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93776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A6978"/>
                </a:solidFill>
                <a:latin typeface="Aptos"/>
              </a:rPr>
              <a:t>No signal ever reaches the instructor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Introduction / Background –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Instructors get no automatic written guide of what they taught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Stuck students fall behind invisibly in remote sessions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Most lab-time interruptions are trivial, repeated errors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Fast LPU inference (Groq) now makes live AI analysis practical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Principle: </a:t>
            </a:r>
            <a:r>
              <a:rPr sz="1800" b="0">
                <a:solidFill>
                  <a:srgbClr val="232A30"/>
                </a:solidFill>
                <a:latin typeface="Aptos"/>
              </a:rPr>
              <a:t>use signals the session already produces; add no instructor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 – Three things instructors want, derived from signals the session already emits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91639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142F4E"/>
                </a:solidFill>
                <a:latin typeface="Aptos"/>
              </a:rPr>
              <a:t>Screen + speech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121408"/>
            <a:ext cx="1645920" cy="0"/>
          </a:xfrm>
          <a:prstGeom prst="line">
            <a:avLst/>
          </a:prstGeom>
          <a:ln w="2540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1783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06B75"/>
                </a:solidFill>
                <a:latin typeface="Aptos"/>
              </a:rPr>
              <a:t>Summarise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691639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Written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97180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142F4E"/>
                </a:solidFill>
                <a:latin typeface="Aptos"/>
              </a:rPr>
              <a:t>Same taught material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18120" y="3401568"/>
            <a:ext cx="1645920" cy="0"/>
          </a:xfrm>
          <a:prstGeom prst="line">
            <a:avLst/>
          </a:prstGeom>
          <a:ln w="2540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0" y="3063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06B75"/>
                </a:solidFill>
                <a:latin typeface="Aptos"/>
              </a:rPr>
              <a:t>Ask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97180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Comprehension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251959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142F4E"/>
                </a:solidFill>
                <a:latin typeface="Aptos"/>
              </a:rPr>
              <a:t>Student error 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4681727"/>
            <a:ext cx="1645920" cy="0"/>
          </a:xfrm>
          <a:prstGeom prst="line">
            <a:avLst/>
          </a:prstGeom>
          <a:ln w="2540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0" y="4343399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06B75"/>
                </a:solidFill>
                <a:latin typeface="Aptos"/>
              </a:rPr>
              <a:t>Diagnose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251959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Debugging help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Introduction / Background – Domain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WKAI sits between three existing tool categories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Each is strong on one axis and blind on the others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None writes study material while the class is running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WKAI serves one meeting shape, the hands-on workshop, in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 – Capability comparison of existing tool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554480"/>
          <a:ext cx="5257797" cy="3639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Video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FFFFFF"/>
                          </a:solidFill>
                          <a:latin typeface="Aptos"/>
                        </a:rPr>
                        <a:t>conference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LMS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AI code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FFFFFF"/>
                          </a:solidFill>
                          <a:latin typeface="Aptos"/>
                        </a:rPr>
                        <a:t>assistant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WKAI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Live screen + audio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Understands content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1">
                          <a:solidFill>
                            <a:srgbClr val="5A6978"/>
                          </a:solidFill>
                          <a:latin typeface="Aptos"/>
                        </a:rPr>
                        <a:t>pasted text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Guide during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1">
                          <a:solidFill>
                            <a:srgbClr val="5A6978"/>
                          </a:solidFill>
                          <a:latin typeface="Aptos"/>
                        </a:rPr>
                        <a:t>manual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Session-aware help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1">
                          <a:solidFill>
                            <a:srgbClr val="5A6978"/>
                          </a:solidFill>
                          <a:latin typeface="Aptos"/>
                        </a:rPr>
                        <a:t>context-blind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Checks while teaching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1">
                          <a:solidFill>
                            <a:srgbClr val="5A6978"/>
                          </a:solidFill>
                          <a:latin typeface="Aptos"/>
                        </a:rPr>
                        <a:t>polls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1">
                          <a:solidFill>
                            <a:srgbClr val="5A6978"/>
                          </a:solidFill>
                          <a:latin typeface="Aptos"/>
                        </a:rPr>
                        <a:t>async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Helps before asked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Problem: </a:t>
            </a:r>
            <a:r>
              <a:rPr sz="1800" b="0">
                <a:solidFill>
                  <a:srgbClr val="232A30"/>
                </a:solidFill>
                <a:latin typeface="Aptos"/>
              </a:rPr>
              <a:t>no tool both streams a live coding session and understands it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Gap: </a:t>
            </a:r>
            <a:r>
              <a:rPr sz="1800" b="0">
                <a:solidFill>
                  <a:srgbClr val="232A30"/>
                </a:solidFill>
                <a:latin typeface="Aptos"/>
              </a:rPr>
              <a:t>no live guide, no stuck-student signal, no context-aware debugging help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Target users: </a:t>
            </a:r>
            <a:r>
              <a:rPr sz="1800" b="0">
                <a:solidFill>
                  <a:srgbClr val="232A30"/>
                </a:solidFill>
                <a:latin typeface="Aptos"/>
              </a:rPr>
              <a:t>instructors of 5–60 students; students on any browser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Expected improvement: </a:t>
            </a:r>
            <a:r>
              <a:rPr sz="1800" b="0">
                <a:solidFill>
                  <a:srgbClr val="232A30"/>
                </a:solidFill>
                <a:latin typeface="Aptos"/>
              </a:rPr>
              <a:t>all of the above with zero extra instructor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 – Today's pipeline carries pixels only – nothing is understood or kept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3736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2F4E"/>
                </a:solidFill>
                <a:latin typeface="Aptos"/>
              </a:rPr>
              <a:t>Instructor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screen + 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173736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2F4E"/>
                </a:solidFill>
                <a:latin typeface="Aptos"/>
              </a:rPr>
              <a:t>Zoom / Meet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pixels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73736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2F4E"/>
                </a:solidFill>
                <a:latin typeface="Aptos"/>
              </a:rPr>
              <a:t>Students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watch, then lose 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0" y="2240279"/>
            <a:ext cx="438912" cy="0"/>
          </a:xfrm>
          <a:prstGeom prst="line">
            <a:avLst/>
          </a:prstGeom>
          <a:ln w="254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00032" y="2240279"/>
            <a:ext cx="429768" cy="0"/>
          </a:xfrm>
          <a:prstGeom prst="line">
            <a:avLst/>
          </a:prstGeom>
          <a:ln w="254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0" y="3108960"/>
            <a:ext cx="384048" cy="38404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90672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>
                <a:solidFill>
                  <a:srgbClr val="232A30"/>
                </a:solidFill>
                <a:latin typeface="Aptos"/>
              </a:rPr>
              <a:t>No written guide of what was taught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3675887"/>
            <a:ext cx="384048" cy="38404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57599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>
                <a:solidFill>
                  <a:srgbClr val="232A30"/>
                </a:solidFill>
                <a:latin typeface="Aptos"/>
              </a:rPr>
              <a:t>No signal that a student is stuck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4242816"/>
            <a:ext cx="384048" cy="38404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24528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>
                <a:solidFill>
                  <a:srgbClr val="232A30"/>
                </a:solidFill>
                <a:latin typeface="Aptos"/>
              </a:rPr>
              <a:t>No debugging help grounded in this session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809744"/>
            <a:ext cx="384048" cy="38404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791456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>
                <a:solidFill>
                  <a:srgbClr val="232A30"/>
                </a:solidFill>
                <a:latin typeface="Aptos"/>
              </a:rPr>
              <a:t>No comprehension check during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Problem Statement – Sub-problems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Capture &amp; delivery: </a:t>
            </a:r>
            <a:r>
              <a:rPr sz="1700" b="0">
                <a:solidFill>
                  <a:srgbClr val="232A30"/>
                </a:solidFill>
                <a:latin typeface="Aptos"/>
              </a:rPr>
              <a:t>fidelity and low latency to many viewers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Comprehension: </a:t>
            </a:r>
            <a:r>
              <a:rPr sz="1700" b="0">
                <a:solidFill>
                  <a:srgbClr val="232A30"/>
                </a:solidFill>
                <a:latin typeface="Aptos"/>
              </a:rPr>
              <a:t>a coherent guide from continuous input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Detection: </a:t>
            </a:r>
            <a:r>
              <a:rPr sz="1700" b="0">
                <a:solidFill>
                  <a:srgbClr val="232A30"/>
                </a:solidFill>
                <a:latin typeface="Aptos"/>
              </a:rPr>
              <a:t>notice stuck students without surveillance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Intervention: </a:t>
            </a:r>
            <a:r>
              <a:rPr sz="1700" b="0">
                <a:solidFill>
                  <a:srgbClr val="232A30"/>
                </a:solidFill>
                <a:latin typeface="Aptos"/>
              </a:rPr>
              <a:t>correct help grounded in what was taught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Cross-cutting: </a:t>
            </a:r>
            <a:r>
              <a:rPr sz="1700" b="0">
                <a:solidFill>
                  <a:srgbClr val="232A30"/>
                </a:solidFill>
                <a:latin typeface="Aptos"/>
              </a:rPr>
              <a:t>access and privileges must be provably controlled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5 – Each sub-problem fails in a different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72200" y="1600199"/>
            <a:ext cx="457200" cy="457200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0019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 i="0">
                <a:solidFill>
                  <a:srgbClr val="142F4E"/>
                </a:solidFill>
                <a:latin typeface="Aptos"/>
              </a:rPr>
              <a:t>Capture &amp;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BD582C"/>
                </a:solidFill>
                <a:latin typeface="Aptos"/>
              </a:rPr>
              <a:t>Fails as degraded, unreliable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463039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0" y="1600199"/>
            <a:ext cx="457200" cy="457200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60019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 i="0">
                <a:solidFill>
                  <a:srgbClr val="142F4E"/>
                </a:solidFill>
                <a:latin typeface="Aptos"/>
              </a:rPr>
              <a:t>Comprehension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BD582C"/>
                </a:solidFill>
                <a:latin typeface="Aptos"/>
              </a:rPr>
              <a:t>Fails as fragments, or too late to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72200" y="3611879"/>
            <a:ext cx="457200" cy="457200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1187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 i="0">
                <a:solidFill>
                  <a:srgbClr val="142F4E"/>
                </a:solidFill>
                <a:latin typeface="Aptos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BD582C"/>
                </a:solidFill>
                <a:latin typeface="Aptos"/>
              </a:rPr>
              <a:t>Fails silently – nobody notices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47472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0" y="3611879"/>
            <a:ext cx="457200" cy="457200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61187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 i="0">
                <a:solidFill>
                  <a:srgbClr val="142F4E"/>
                </a:solidFill>
                <a:latin typeface="Aptos"/>
              </a:rPr>
              <a:t>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29768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BD582C"/>
                </a:solidFill>
                <a:latin typeface="Aptos"/>
              </a:rPr>
              <a:t>Fails as a confidently wrong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O1 </a:t>
            </a:r>
            <a:r>
              <a:rPr sz="1700" b="0">
                <a:solidFill>
                  <a:srgbClr val="232A30"/>
                </a:solidFill>
                <a:latin typeface="Aptos"/>
              </a:rPr>
              <a:t>Capture and stream screen + audio with one form, one button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O2 </a:t>
            </a:r>
            <a:r>
              <a:rPr sz="1700" b="0">
                <a:solidFill>
                  <a:srgbClr val="232A30"/>
                </a:solidFill>
                <a:latin typeface="Aptos"/>
              </a:rPr>
              <a:t>Turn transcript and screen into a live structured guide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O3 </a:t>
            </a:r>
            <a:r>
              <a:rPr sz="1700" b="0">
                <a:solidFill>
                  <a:srgbClr val="232A30"/>
                </a:solidFill>
                <a:latin typeface="Aptos"/>
              </a:rPr>
              <a:t>Detect student errors; return grounded diagnoses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O4 </a:t>
            </a:r>
            <a:r>
              <a:rPr sz="1700" b="0">
                <a:solidFill>
                  <a:srgbClr val="232A30"/>
                </a:solidFill>
                <a:latin typeface="Aptos"/>
              </a:rPr>
              <a:t>Zero-install browser app with token-based room access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O5 </a:t>
            </a:r>
            <a:r>
              <a:rPr sz="1700" b="0">
                <a:solidFill>
                  <a:srgbClr val="232A30"/>
                </a:solidFill>
                <a:latin typeface="Aptos"/>
              </a:rPr>
              <a:t>Make instructor privileges impossible to spoof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6 – Each objective mapped to the result that evidences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45919"/>
          <a:ext cx="5257800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Obj.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Measured result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Native capture ~37 fps; one publish via SFU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O2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Guide blocks delivered live; grounding filter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Auto-diagnosis on failed run; burst queued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O4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Browser only; signed join token (TC-1, TC-5)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O5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All abuse attempts rejected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Objectives –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Scope drawn on one test: can it be validated end to end this phase?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Delivered: capture, streaming, 7 agents, student app, security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Deferred: work depending on infrastructure not guaranteed this phase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Deferred items become the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7 – In-scope versus deferred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2560320" cy="457200"/>
          </a:xfrm>
          <a:prstGeom prst="roundRect">
            <a:avLst>
              <a:gd name="adj" fmla="val 15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2514600" cy="3383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Native capture (Windows, Linux)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SFU streaming + mesh fallback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7 LangGraph agents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Student app + sandbox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Assessments, workspaces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Token auth, rate limits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Theming,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63039"/>
            <a:ext cx="2560320" cy="457200"/>
          </a:xfrm>
          <a:prstGeom prst="roundRect">
            <a:avLst>
              <a:gd name="adj" fmla="val 15000"/>
            </a:avLst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057400"/>
            <a:ext cx="2514600" cy="3383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macOS capture backend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Student native companion app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Multi-instance backend scaling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LMS export of the guide</a:t>
            </a:r>
          </a:p>
          <a:p>
            <a:pPr marL="256032" indent="-219456" algn="l">
              <a:spcAft>
                <a:spcPts val="500"/>
              </a:spcAft>
              <a:buClr>
                <a:srgbClr val="008996"/>
              </a:buClr>
              <a:buFont typeface="Arial"/>
              <a:buChar char="•"/>
            </a:pPr>
            <a:r>
              <a:rPr sz="1200" b="0" i="0">
                <a:solidFill>
                  <a:srgbClr val="232A30"/>
                </a:solidFill>
                <a:latin typeface="Aptos"/>
              </a:rPr>
              <a:t>Rubric-based AI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Literature Survey – Key Studies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Ten works reviewed (2026–2024), one per capability WKAI must combine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LeafTutor [1] (2026): classify-then-intervene for live coding errors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MMTutorBench [2] (2026): correctness and pedagogy scored apart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ITS review [3] (2025): modern taxonomy and grounded feedback loops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Video-MMLU [4] (2025): incremental segment-level summaries 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Fig. 8 • Summary of reviewed literature • works 1 to 5 (2026–2025)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00199"/>
          <a:ext cx="5257800" cy="3703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Venue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Lesson taken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Review of AI-based ITS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ArXiv '25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Ground answers in bounded course material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Ruffle &amp; Riley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AIED '24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Elicit before explaining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Tutor CoPilot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Stanford '24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Augment the live human tutor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ScreenAI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IJCAI '24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Screens are machine-readable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MultiTutor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PMLR '25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Discipline agent communication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Literature Survey – Key Studies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MathBuddy [5] (2025): retries and latency signal student struggle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MultiTutor [6] (2025): state machine avoids agent traffic bottlenecks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Ruffle &amp; Riley [7] (2024): tutors must elicit, not hand out answers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Tutor CoPilot [8] (2024): amplify the live instructor, within seconds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t>• ScreenAI [10] &amp; Computing in GenAI [9] (2024): UI grounding &amp; error scaffolding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Fig. 9 • Summary of reviewed literature • works 6 to 10 (2025–2024)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00199"/>
          <a:ext cx="5257800" cy="3703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Venue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Lesson taken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MultiTutor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PMLR '25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Discipline agent communication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MMTutorBench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ArXiv '25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Score pedagogy apart from correctness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Video-MMLU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CVPR '25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Summarise per segment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MathBuddy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EMNLP '25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Cheap engagement proxies work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LeafTutor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ArXiv '26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Classify, then intervene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Literature Survey –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Each capability exists in isolation in the literature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Prior systems assume known material, async use, a test suite, or a student who asks first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None run on a live, unscripted session in real time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WKAI: </a:t>
            </a:r>
            <a:r>
              <a:rPr sz="1800" b="0">
                <a:solidFill>
                  <a:srgbClr val="232A30"/>
                </a:solidFill>
                <a:latin typeface="Aptos"/>
              </a:rPr>
              <a:t>integrative and engineering-led, not model-led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10 – Capabilities that exist separately, combined live in WKAI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Tutoring dialogue</a:t>
            </a:r>
          </a:p>
          <a:p>
            <a:pPr algn="ctr"/>
            <a:r>
              <a:t>[7]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1920240"/>
            <a:ext cx="685800" cy="1508760"/>
          </a:xfrm>
          <a:prstGeom prst="line">
            <a:avLst/>
          </a:prstGeom>
          <a:ln w="1905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25146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Screen understanding</a:t>
            </a:r>
          </a:p>
          <a:p>
            <a:pPr algn="ctr"/>
            <a:r>
              <a:t>[10]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880360"/>
            <a:ext cx="685800" cy="548640"/>
          </a:xfrm>
          <a:prstGeom prst="line">
            <a:avLst/>
          </a:prstGeom>
          <a:ln w="1905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3474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Multi-agent coordination</a:t>
            </a:r>
          </a:p>
          <a:p>
            <a:pPr algn="ctr"/>
            <a:r>
              <a:t>[6]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412480" y="3429000"/>
            <a:ext cx="685800" cy="411480"/>
          </a:xfrm>
          <a:prstGeom prst="line">
            <a:avLst/>
          </a:prstGeom>
          <a:ln w="1905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0" y="44348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Code-error tutoring</a:t>
            </a:r>
          </a:p>
          <a:p>
            <a:pPr algn="ctr"/>
            <a:r>
              <a:t>[1]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412480" y="3429000"/>
            <a:ext cx="685800" cy="1371600"/>
          </a:xfrm>
          <a:prstGeom prst="line">
            <a:avLst/>
          </a:prstGeom>
          <a:ln w="1905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98280" y="2697480"/>
            <a:ext cx="2194560" cy="146304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WKAI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Aptos"/>
              </a:rPr>
              <a:t>all four, live,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Aptos"/>
              </a:rPr>
              <a:t>in real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Core idea: </a:t>
            </a:r>
            <a:r>
              <a:rPr sz="1700" b="0">
                <a:solidFill>
                  <a:srgbClr val="232A30"/>
                </a:solidFill>
                <a:latin typeface="Aptos"/>
              </a:rPr>
              <a:t>the instructor teaches normally; WKAI watches, listens and writes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Inputs: </a:t>
            </a:r>
            <a:r>
              <a:rPr sz="1700" b="0">
                <a:solidFill>
                  <a:srgbClr val="232A30"/>
                </a:solidFill>
                <a:latin typeface="Aptos"/>
              </a:rPr>
              <a:t>screen, voice, student errors and questions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Outputs: </a:t>
            </a:r>
            <a:r>
              <a:rPr sz="1700" b="0">
                <a:solidFill>
                  <a:srgbClr val="232A30"/>
                </a:solidFill>
                <a:latin typeface="Aptos"/>
              </a:rPr>
              <a:t>live stream, guide, checks, diagnoses, answers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Novelty: </a:t>
            </a:r>
            <a:r>
              <a:rPr sz="1700" b="0">
                <a:solidFill>
                  <a:srgbClr val="232A30"/>
                </a:solidFill>
                <a:latin typeface="Aptos"/>
              </a:rPr>
              <a:t>help triggered by events, before a student 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11 – High-level concept: signals in, help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00199"/>
            <a:ext cx="1600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142F4E"/>
                </a:solidFill>
                <a:latin typeface="Aptos"/>
              </a:rPr>
              <a:t>Instructor screen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35240" y="1929384"/>
            <a:ext cx="365760" cy="1517903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2560320"/>
            <a:ext cx="1600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142F4E"/>
                </a:solidFill>
                <a:latin typeface="Aptos"/>
              </a:rPr>
              <a:t>Instructor voice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2889503"/>
            <a:ext cx="365760" cy="557784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3520439"/>
            <a:ext cx="1600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142F4E"/>
                </a:solidFill>
                <a:latin typeface="Aptos"/>
              </a:rPr>
              <a:t>Student errors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35240" y="3447287"/>
            <a:ext cx="365760" cy="402337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0" y="4480560"/>
            <a:ext cx="1600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142F4E"/>
                </a:solidFill>
                <a:latin typeface="Aptos"/>
              </a:rPr>
              <a:t>Student questions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635240" y="3447287"/>
            <a:ext cx="365760" cy="1362457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01000" y="2377439"/>
            <a:ext cx="1325880" cy="214884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WKAI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ptos"/>
              </a:rPr>
              <a:t>Capture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ptos"/>
              </a:rPr>
              <a:t>Understand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326880" y="1801368"/>
            <a:ext cx="365760" cy="1645919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92640" y="1508760"/>
            <a:ext cx="16002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42F4E"/>
                </a:solidFill>
                <a:latin typeface="Aptos"/>
              </a:rPr>
              <a:t>Live stream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326880" y="2587751"/>
            <a:ext cx="365760" cy="859536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92640" y="2295144"/>
            <a:ext cx="16002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42F4E"/>
                </a:solidFill>
                <a:latin typeface="Aptos"/>
              </a:rPr>
              <a:t>Live guide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326880" y="3374136"/>
            <a:ext cx="365760" cy="73151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92640" y="3081528"/>
            <a:ext cx="16002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42F4E"/>
                </a:solidFill>
                <a:latin typeface="Aptos"/>
              </a:rPr>
              <a:t>Comprehension checks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3447287"/>
            <a:ext cx="365760" cy="713233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640" y="3867912"/>
            <a:ext cx="16002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42F4E"/>
                </a:solidFill>
                <a:latin typeface="Aptos"/>
              </a:rPr>
              <a:t>Error diagnosis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0" y="3447287"/>
            <a:ext cx="365760" cy="1499617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92640" y="4654296"/>
            <a:ext cx="16002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42F4E"/>
                </a:solidFill>
                <a:latin typeface="Aptos"/>
              </a:rPr>
              <a:t>Answers / escalation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Proposed System –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Zero-effort guide generation, with grounding gates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Native OS-level capture at ~37 fps; SFU delivery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Error diagnosis with a single fix command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Code sandbox, quizzes, proctored assessments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Workspace memory across a multi-day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12 – Nine delivered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Live guide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from screen + speech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63039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Grounding gates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reject invented 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463039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Comprehension gating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answer to unlock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807208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Error diagnosis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cause + fix 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807208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Native capture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Rust, ~37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807208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SFU relay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1 upload, mesh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151376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Code sandbox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Py / JS / TS / Bash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151376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Assessments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timed, proctored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4151376"/>
            <a:ext cx="1664208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Workspace memory</a:t>
            </a:r>
          </a:p>
          <a:p>
            <a:pPr algn="ctr"/>
            <a:r>
              <a:rPr sz="1050" b="0" i="0">
                <a:solidFill>
                  <a:srgbClr val="232A30"/>
                </a:solidFill>
                <a:latin typeface="Aptos"/>
              </a:rPr>
              <a:t>shared across sessions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Proposed System –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Nine functional requirements, each traced to a test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Security first: </a:t>
            </a:r>
            <a:r>
              <a:rPr sz="1700" b="0">
                <a:solidFill>
                  <a:srgbClr val="232A30"/>
                </a:solidFill>
                <a:latin typeface="Aptos"/>
              </a:rPr>
              <a:t>role and identity only from signed tokens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Reliability: </a:t>
            </a:r>
            <a:r>
              <a:rPr sz="1700" b="0">
                <a:solidFill>
                  <a:srgbClr val="232A30"/>
                </a:solidFill>
                <a:latin typeface="Aptos"/>
              </a:rPr>
              <a:t>reconnect restores full state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Usability: </a:t>
            </a:r>
            <a:r>
              <a:rPr sz="1700" b="0">
                <a:solidFill>
                  <a:srgbClr val="232A30"/>
                </a:solidFill>
                <a:latin typeface="Aptos"/>
              </a:rPr>
              <a:t>browser only, no account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Scalability: </a:t>
            </a:r>
            <a:r>
              <a:rPr sz="1700" b="0">
                <a:solidFill>
                  <a:srgbClr val="232A30"/>
                </a:solidFill>
                <a:latin typeface="Aptos"/>
              </a:rPr>
              <a:t>request bursts never break rate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13 – Functional requirements and verification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FR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Requirement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Start session, get room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Stream screen + audio live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BD582C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Live guide from transcript +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Join with code, get signed token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Grounded error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 file sharing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In-session quizzes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Ended vs offline notices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Themes with custom accent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Instructor app: </a:t>
            </a:r>
            <a:r>
              <a:rPr sz="1700" b="0">
                <a:solidFill>
                  <a:srgbClr val="232A30"/>
                </a:solidFill>
                <a:latin typeface="Aptos"/>
              </a:rPr>
              <a:t>Tauri + Rust + React; native capture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Backend: </a:t>
            </a:r>
            <a:r>
              <a:rPr sz="1700" b="0">
                <a:solidFill>
                  <a:srgbClr val="232A30"/>
                </a:solidFill>
                <a:latin typeface="Aptos"/>
              </a:rPr>
              <a:t>Node.js, WebSocket, 7 agents, SFU broker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Student app: </a:t>
            </a:r>
            <a:r>
              <a:rPr sz="1700" b="0">
                <a:solidFill>
                  <a:srgbClr val="232A30"/>
                </a:solidFill>
                <a:latin typeface="Aptos"/>
              </a:rPr>
              <a:t>React, browser only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Data flow: </a:t>
            </a:r>
            <a:r>
              <a:rPr sz="1700" b="0">
                <a:solidFill>
                  <a:srgbClr val="232A30"/>
                </a:solidFill>
                <a:latin typeface="Aptos"/>
              </a:rPr>
              <a:t>control over WS + REST; media via Cloudflare SFU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Dependencies: </a:t>
            </a:r>
            <a:r>
              <a:rPr sz="1700" b="0">
                <a:solidFill>
                  <a:srgbClr val="232A30"/>
                </a:solidFill>
                <a:latin typeface="Aptos"/>
              </a:rPr>
              <a:t>PostgreSQL, Redis, Groq, Cloudinary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14 – WKAI block diagram – control path (teal) and media path (orange)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2F4E"/>
                </a:solidFill>
                <a:latin typeface="Aptos"/>
              </a:rPr>
              <a:t>Instructor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Tauri · 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554480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Backend</a:t>
            </a:r>
          </a:p>
          <a:p>
            <a:pPr algn="ctr"/>
            <a:r>
              <a:rPr sz="1000" b="0" i="0">
                <a:solidFill>
                  <a:srgbClr val="D8E2EC"/>
                </a:solidFill>
                <a:latin typeface="Aptos"/>
              </a:rPr>
              <a:t>Node · ws ·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554480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2F4E"/>
                </a:solidFill>
                <a:latin typeface="Aptos"/>
              </a:rPr>
              <a:t>Student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React · browser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2029967"/>
            <a:ext cx="228600" cy="0"/>
          </a:xfrm>
          <a:prstGeom prst="line">
            <a:avLst/>
          </a:prstGeom>
          <a:ln w="25400">
            <a:solidFill>
              <a:srgbClr val="00899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64040" y="2029967"/>
            <a:ext cx="228600" cy="0"/>
          </a:xfrm>
          <a:prstGeom prst="line">
            <a:avLst/>
          </a:prstGeom>
          <a:ln w="25400">
            <a:solidFill>
              <a:srgbClr val="00899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31546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PostgreSQL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durable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784848" y="2514600"/>
            <a:ext cx="1874520" cy="640080"/>
          </a:xfrm>
          <a:prstGeom prst="line">
            <a:avLst/>
          </a:prstGeom>
          <a:ln w="127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0648" y="31546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Redis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room state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37576" y="2514600"/>
            <a:ext cx="621792" cy="640080"/>
          </a:xfrm>
          <a:prstGeom prst="line">
            <a:avLst/>
          </a:prstGeom>
          <a:ln w="127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23376" y="31546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Groq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LLMs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2514600"/>
            <a:ext cx="630936" cy="640080"/>
          </a:xfrm>
          <a:prstGeom prst="line">
            <a:avLst/>
          </a:prstGeom>
          <a:ln w="127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76104" y="31546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Cloudinary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59368" y="2514600"/>
            <a:ext cx="1883664" cy="640080"/>
          </a:xfrm>
          <a:prstGeom prst="line">
            <a:avLst/>
          </a:prstGeom>
          <a:ln w="1270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0" y="4526280"/>
            <a:ext cx="5257800" cy="685800"/>
          </a:xfrm>
          <a:prstGeom prst="roundRect">
            <a:avLst>
              <a:gd name="adj" fmla="val 20000"/>
            </a:avLst>
          </a:prstGeom>
          <a:solidFill>
            <a:srgbClr val="FBEDE6"/>
          </a:solidFill>
          <a:ln w="15875">
            <a:solidFill>
              <a:srgbClr val="BD5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BD582C"/>
                </a:solidFill>
                <a:latin typeface="Aptos"/>
              </a:rPr>
              <a:t>Cloudflare Realtime SFU + TURN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publish once → every student pulls a copy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2514600"/>
            <a:ext cx="0" cy="2011680"/>
          </a:xfrm>
          <a:prstGeom prst="line">
            <a:avLst/>
          </a:prstGeom>
          <a:ln w="25400">
            <a:solidFill>
              <a:srgbClr val="BD582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018520" y="2514600"/>
            <a:ext cx="0" cy="2011680"/>
          </a:xfrm>
          <a:prstGeom prst="line">
            <a:avLst/>
          </a:prstGeom>
          <a:ln w="25400">
            <a:solidFill>
              <a:srgbClr val="BD582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System Architecture – Layered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Five layers, each with a single responsibility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Invariant 1: </a:t>
            </a:r>
            <a:r>
              <a:rPr sz="1700" b="0">
                <a:solidFill>
                  <a:srgbClr val="232A30"/>
                </a:solidFill>
                <a:latin typeface="Aptos"/>
              </a:rPr>
              <a:t>no client is authoritative; state comes from the server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Invariant 2: </a:t>
            </a:r>
            <a:r>
              <a:rPr sz="1700" b="0">
                <a:solidFill>
                  <a:srgbClr val="232A30"/>
                </a:solidFill>
                <a:latin typeface="Aptos"/>
              </a:rPr>
              <a:t>control and media paths are independent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Media was replaced wholesale with zero protocol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15 – Layered architecture of WKAI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39"/>
            <a:ext cx="3429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463039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two UIs, render from messages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258568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1B7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58568"/>
            <a:ext cx="3429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225856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WS control + separate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054096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23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Orchestration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054096"/>
            <a:ext cx="3429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3054096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agents, retries,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849624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1E4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Persistence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849624"/>
            <a:ext cx="3429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3849624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Postgres + Redis (7-day TTL)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645152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Capture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645152"/>
            <a:ext cx="3429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4645152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native Rust, bounded channel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System Architecture –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PostgreSQL: </a:t>
            </a:r>
            <a:r>
              <a:rPr sz="1700" b="0">
                <a:solidFill>
                  <a:srgbClr val="232A30"/>
                </a:solidFill>
                <a:latin typeface="Aptos"/>
              </a:rPr>
              <a:t>what must outlive the session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Redis: </a:t>
            </a:r>
            <a:r>
              <a:rPr sz="1700" b="0">
                <a:solidFill>
                  <a:srgbClr val="232A30"/>
                </a:solidFill>
                <a:latin typeface="Aptos"/>
              </a:rPr>
              <a:t>room state, transcript, agent memory, SFU location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Redis entries expire after 7 days – no cleanup job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No table of connected clients: that state is ephemeral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16 – Persistent tables and their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Holds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sessions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workshop, room code, status, workspace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workspaces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course sharing AI memory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guide_blocks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guide cards in 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comprehension_questions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checks from guide content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shared_files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 files + URLs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messages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questions + replies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error_resolutions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errors + diagnoses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assessments (+4)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questions, attempts, answers, events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System Architecture – Real-Time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One endpoint: </a:t>
            </a:r>
            <a:r>
              <a:rPr sz="1700" b="0">
                <a:solidFill>
                  <a:srgbClr val="232A30"/>
                </a:solidFill>
                <a:latin typeface="Aptos"/>
              </a:rPr>
              <a:t>ws://host/ws?token=…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Token lifetimes: </a:t>
            </a:r>
            <a:r>
              <a:rPr sz="1700" b="0">
                <a:solidFill>
                  <a:srgbClr val="232A30"/>
                </a:solidFill>
                <a:latin typeface="Aptos"/>
              </a:rPr>
              <a:t>instructor 12 h, student 8 h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Role, session and identity are read from the token only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Reconnect returns a full session-state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17 – Key WebSocket message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audio-transcript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 → 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guide-block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students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comprehension-question / -result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↔ students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student-error / error-resolved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student ↔ server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share-intent-detected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instructor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file-shared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students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session-state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new client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instructor-online / -offline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students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session-ended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server → room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Methodology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1: </a:t>
            </a:r>
            <a:r>
              <a:rPr sz="1700" b="0">
                <a:solidFill>
                  <a:srgbClr val="232A30"/>
                </a:solidFill>
                <a:latin typeface="Aptos"/>
              </a:rPr>
              <a:t>instructor starts a session with one form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2: </a:t>
            </a:r>
            <a:r>
              <a:rPr sz="1700" b="0">
                <a:solidFill>
                  <a:srgbClr val="232A30"/>
                </a:solidFill>
                <a:latin typeface="Aptos"/>
              </a:rPr>
              <a:t>Rust captures screen frames and 30 s audio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3: </a:t>
            </a:r>
            <a:r>
              <a:rPr sz="1700" b="0">
                <a:solidFill>
                  <a:srgbClr val="232A30"/>
                </a:solidFill>
                <a:latin typeface="Aptos"/>
              </a:rPr>
              <a:t>Whisper transcribes; gates drop junk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4: </a:t>
            </a:r>
            <a:r>
              <a:rPr sz="1700" b="0">
                <a:solidFill>
                  <a:srgbClr val="232A30"/>
                </a:solidFill>
                <a:latin typeface="Aptos"/>
              </a:rPr>
              <a:t>agents generate grounded, validated blocks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5: </a:t>
            </a:r>
            <a:r>
              <a:rPr sz="1700" b="0">
                <a:solidFill>
                  <a:srgbClr val="232A30"/>
                </a:solidFill>
                <a:latin typeface="Aptos"/>
              </a:rPr>
              <a:t>WebSocket + SFU deliver to the room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Step 6: </a:t>
            </a:r>
            <a:r>
              <a:rPr sz="1700" b="0">
                <a:solidFill>
                  <a:srgbClr val="232A30"/>
                </a:solidFill>
                <a:latin typeface="Aptos"/>
              </a:rPr>
              <a:t>diagnose, answer or escalate, run quizzes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18 – Runtime workflow of a live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63039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1.  Start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9368" y="1975104"/>
            <a:ext cx="0" cy="155448"/>
          </a:xfrm>
          <a:prstGeom prst="line">
            <a:avLst/>
          </a:prstGeom>
          <a:ln w="1905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0" y="2130552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2.  Capture screen + mic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9368" y="2642616"/>
            <a:ext cx="0" cy="155448"/>
          </a:xfrm>
          <a:prstGeom prst="line">
            <a:avLst/>
          </a:prstGeom>
          <a:ln w="1905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2798063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3.  Transcribe + filter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9368" y="3310127"/>
            <a:ext cx="0" cy="155448"/>
          </a:xfrm>
          <a:prstGeom prst="line">
            <a:avLst/>
          </a:prstGeom>
          <a:ln w="1905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0" y="3465576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4.  Generate + ground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8" y="3977639"/>
            <a:ext cx="0" cy="155448"/>
          </a:xfrm>
          <a:prstGeom prst="line">
            <a:avLst/>
          </a:prstGeom>
          <a:ln w="1905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0" y="4133087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5.  Deliver (WS + SFU)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59368" y="4645152"/>
            <a:ext cx="0" cy="155448"/>
          </a:xfrm>
          <a:prstGeom prst="line">
            <a:avLst/>
          </a:prstGeom>
          <a:ln w="1905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4800600"/>
            <a:ext cx="3611880" cy="512064"/>
          </a:xfrm>
          <a:prstGeom prst="roundRect">
            <a:avLst>
              <a:gd name="adj" fmla="val 20000"/>
            </a:avLst>
          </a:prstGeom>
          <a:solidFill>
            <a:srgbClr val="00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6.  Support students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Methodology / Workflow – Message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Instructor creates the room and gets a signed token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Student joins with code + password, gets a join token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Frames and transcripts flow in; guide blocks flow out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Errors are diagnosed; questions reach the instructor or AI after 45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19 – Session message sequence across the three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1463039"/>
            <a:ext cx="1243584" cy="384048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Instructor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1847088"/>
            <a:ext cx="0" cy="3593591"/>
          </a:xfrm>
          <a:prstGeom prst="line">
            <a:avLst/>
          </a:prstGeom>
          <a:ln w="12700">
            <a:solidFill>
              <a:srgbClr val="D2DA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37576" y="1463039"/>
            <a:ext cx="1243584" cy="384048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9368" y="1847088"/>
            <a:ext cx="0" cy="3593591"/>
          </a:xfrm>
          <a:prstGeom prst="line">
            <a:avLst/>
          </a:prstGeom>
          <a:ln w="12700">
            <a:solidFill>
              <a:srgbClr val="D2DA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30968" y="1463039"/>
            <a:ext cx="1243584" cy="384048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 w="15875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52760" y="1847088"/>
            <a:ext cx="0" cy="3593591"/>
          </a:xfrm>
          <a:prstGeom prst="line">
            <a:avLst/>
          </a:prstGeom>
          <a:ln w="12700">
            <a:solidFill>
              <a:srgbClr val="D2DA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2304288"/>
            <a:ext cx="1984248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20840" y="2048255"/>
            <a:ext cx="189280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create session → token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59368" y="2670048"/>
            <a:ext cx="1993392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5088" y="2414015"/>
            <a:ext cx="190195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join → join token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3035808"/>
            <a:ext cx="1984248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2779776"/>
            <a:ext cx="189280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frames + transcript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59368" y="3401568"/>
            <a:ext cx="1993392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05088" y="3145536"/>
            <a:ext cx="190195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guide-block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659368" y="3767328"/>
            <a:ext cx="1993392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05088" y="3511296"/>
            <a:ext cx="190195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student-error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59368" y="4133088"/>
            <a:ext cx="1993392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05088" y="3877056"/>
            <a:ext cx="190195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cause + fix command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675120" y="4498848"/>
            <a:ext cx="1984248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20840" y="4242816"/>
            <a:ext cx="189280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question → inbox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59368" y="4864608"/>
            <a:ext cx="1993392" cy="0"/>
          </a:xfrm>
          <a:prstGeom prst="line">
            <a:avLst/>
          </a:prstGeom>
          <a:ln w="15875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05088" y="4608576"/>
            <a:ext cx="190195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reply / AI after 45 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75120" y="5230368"/>
            <a:ext cx="3977640" cy="0"/>
          </a:xfrm>
          <a:prstGeom prst="line">
            <a:avLst/>
          </a:prstGeom>
          <a:ln w="15875">
            <a:solidFill>
              <a:srgbClr val="BD582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20840" y="4974336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 i="0">
                <a:solidFill>
                  <a:srgbClr val="BD582C"/>
                </a:solidFill>
                <a:latin typeface="Aptos"/>
              </a:rPr>
              <a:t>media via SFU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Methodology / Workflow – AI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Screen frame every 25 s → vision model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30 s audio → Whisper → transcript gate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Explainer agent uses ranked session context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Grounding filter rejects invented blocks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Surviving blocks saved and broadcast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20 – Capture-to-guide pipeline with its two rejecting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Screen frame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every 25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63039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Vision model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Qwen3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468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Microphone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30 s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468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Whisper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large-v3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474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BEDE6"/>
          </a:solidFill>
          <a:ln w="22225">
            <a:solidFill>
              <a:srgbClr val="BD5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BD582C"/>
                </a:solidFill>
                <a:latin typeface="Aptos"/>
              </a:rPr>
              <a:t>Transcript gate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drops junk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480559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Session context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IDF-ranked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480559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42F4E"/>
                </a:solidFill>
                <a:latin typeface="Aptos"/>
              </a:rPr>
              <a:t>Explainer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GPT-OSS-120B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46888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BEDE6"/>
          </a:solidFill>
          <a:ln w="22225">
            <a:solidFill>
              <a:srgbClr val="BD5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BD582C"/>
                </a:solidFill>
                <a:latin typeface="Aptos"/>
              </a:rPr>
              <a:t>Grounding filter</a:t>
            </a:r>
          </a:p>
          <a:p>
            <a:pPr algn="ctr"/>
            <a:r>
              <a:rPr sz="950" b="0" i="0">
                <a:solidFill>
                  <a:srgbClr val="232A30"/>
                </a:solidFill>
                <a:latin typeface="Aptos"/>
              </a:rPr>
              <a:t>rejects narration / no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4480559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Guide blocks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saved + broadcast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0" y="1828800"/>
            <a:ext cx="411480" cy="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80" y="2834640"/>
            <a:ext cx="411480" cy="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41080" y="3200400"/>
            <a:ext cx="0" cy="27432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41080" y="4206240"/>
            <a:ext cx="0" cy="274319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80" y="4846320"/>
            <a:ext cx="411480" cy="0"/>
          </a:xfrm>
          <a:prstGeom prst="line">
            <a:avLst/>
          </a:prstGeom>
          <a:ln w="19050">
            <a:solidFill>
              <a:srgbClr val="0089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72600" y="1828800"/>
            <a:ext cx="1161288" cy="6400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372600" y="3383280"/>
            <a:ext cx="685800" cy="146304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881359" y="3383280"/>
            <a:ext cx="0" cy="1097279"/>
          </a:xfrm>
          <a:prstGeom prst="line">
            <a:avLst/>
          </a:prstGeom>
          <a:ln w="2540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Methodology / Workflow – 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Error agent: </a:t>
            </a:r>
            <a:r>
              <a:rPr sz="1700" b="0">
                <a:solidFill>
                  <a:srgbClr val="232A30"/>
                </a:solidFill>
                <a:latin typeface="Aptos"/>
              </a:rPr>
              <a:t>classify → diagnose → validate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Invalid output retried a bounded number of times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Intent agent: </a:t>
            </a:r>
            <a:r>
              <a:rPr sz="1700" b="0">
                <a:solidFill>
                  <a:srgbClr val="232A30"/>
                </a:solidFill>
                <a:latin typeface="Aptos"/>
              </a:rPr>
              <a:t>cheap lexical filter before any model call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File-share intents are suggested, never auto-shared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Cheap steps always run before expensive 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21 – Error-diagnosis and intent-detection state machines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1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 i="0">
                <a:solidFill>
                  <a:srgbClr val="142F4E"/>
                </a:solidFill>
                <a:latin typeface="Aptos"/>
              </a:rPr>
              <a:t>Error diagnosis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Student 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359152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542032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Classify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3072384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3255264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Diagnose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3785615"/>
            <a:ext cx="0" cy="182881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3968496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Validate (Zod)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4498848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4681728"/>
            <a:ext cx="2194560" cy="566928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cause +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41731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 i="0">
                <a:solidFill>
                  <a:srgbClr val="142F4E"/>
                </a:solidFill>
                <a:latin typeface="Aptos"/>
              </a:rPr>
              <a:t>Intent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828800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Transcript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12680" y="2359152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15400" y="2542032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BEDE6"/>
          </a:solidFill>
          <a:ln w="15875">
            <a:solidFill>
              <a:srgbClr val="BD5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BD582C"/>
                </a:solidFill>
                <a:latin typeface="Aptos"/>
              </a:rPr>
              <a:t>Lexical filter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12680" y="3072384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15400" y="3255264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Classify intent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12680" y="3785615"/>
            <a:ext cx="0" cy="182881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15400" y="3968496"/>
            <a:ext cx="219456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Match file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12680" y="4498848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15400" y="4681728"/>
            <a:ext cx="2194560" cy="566928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ask instructor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Environment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Software: </a:t>
            </a:r>
            <a:r>
              <a:rPr sz="1700" b="0">
                <a:solidFill>
                  <a:srgbClr val="232A30"/>
                </a:solidFill>
                <a:latin typeface="Aptos"/>
              </a:rPr>
              <a:t>Node.js 20+, Rust + Tauri CLI, Vite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Models: </a:t>
            </a:r>
            <a:r>
              <a:rPr sz="1700" b="0">
                <a:solidFill>
                  <a:srgbClr val="232A30"/>
                </a:solidFill>
                <a:latin typeface="Aptos"/>
              </a:rPr>
              <a:t>Qwen3 vision, GPT-OSS-120B, Whisper-large-v3 on Groq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Data: </a:t>
            </a:r>
            <a:r>
              <a:rPr sz="1700" b="0">
                <a:solidFill>
                  <a:srgbClr val="232A30"/>
                </a:solidFill>
                <a:latin typeface="Aptos"/>
              </a:rPr>
              <a:t>Neon PostgreSQL + Redis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Hardware: </a:t>
            </a:r>
            <a:r>
              <a:rPr sz="1700" b="0">
                <a:solidFill>
                  <a:srgbClr val="232A30"/>
                </a:solidFill>
                <a:latin typeface="Aptos"/>
              </a:rPr>
              <a:t>none custom; 8 GB RAM instructor PC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Test setup: </a:t>
            </a:r>
            <a:r>
              <a:rPr sz="1700" b="0">
                <a:solidFill>
                  <a:srgbClr val="232A30"/>
                </a:solidFill>
                <a:latin typeface="Aptos"/>
              </a:rPr>
              <a:t>seeded demo room, all three apps started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22 – Technology stack by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Instructor 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Tauri v2 (Rust + React + 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Student app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React 18 + TypeScript + Vite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Backend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Node.js + Express + 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AI orchestration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LangChain + LangGraph + Zod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Inference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Groq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PostgreSQL + Redis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Media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Cloudflare Realtime SFU + 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Files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Cloudinary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Hosting / 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Render, Vercel, GitHub Actions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Native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Rust captures the OS framebuffer, not a browser API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JPEG encode runs on a second thread, overlapping capture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SIMD encoder: 17.2 ms vs 36 ms before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Capture call sets the ceiling at ~37 fps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Platforms: </a:t>
            </a:r>
            <a:r>
              <a:rPr sz="1700" b="0">
                <a:solidFill>
                  <a:srgbClr val="232A30"/>
                </a:solidFill>
                <a:latin typeface="Aptos"/>
              </a:rPr>
              <a:t>Windows and Linux (X11) native; macOS stub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23 – Capture pipeline stages and per-frame cost at 1920×1200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463039"/>
            <a:ext cx="370332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OS framebuffer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23.7 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9368" y="2084831"/>
            <a:ext cx="0" cy="182881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12280" y="2267712"/>
            <a:ext cx="370332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RGB convert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2.6 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9368" y="2889504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12280" y="3072384"/>
            <a:ext cx="3703320" cy="621792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SIMD JPEG encode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17.2 ms · 2nd thread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9368" y="3694176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12280" y="3877056"/>
            <a:ext cx="370332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Bounded channel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backpressure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8" y="4498848"/>
            <a:ext cx="0" cy="182880"/>
          </a:xfrm>
          <a:prstGeom prst="line">
            <a:avLst/>
          </a:prstGeom>
          <a:ln w="19050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80" y="4681728"/>
            <a:ext cx="370332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42F4E"/>
                </a:solidFill>
                <a:latin typeface="Aptos"/>
              </a:rPr>
              <a:t>Publish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SFU / preview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Live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Phase I: one encode + upload per student (mesh)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Phase II: one publish to the SFU; students pull copies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Publisher location kept in Redis (restart-safe)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TURN credentials minted server-side for campus networks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No SFU configured → falls back to the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24 – Peer mesh (Phase I) versus selective forwarding unit (Phase 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3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D582C"/>
                </a:solidFill>
                <a:latin typeface="Aptos"/>
              </a:rPr>
              <a:t>Mesh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3063239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011679"/>
            <a:ext cx="384048" cy="38404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675120" y="2203703"/>
            <a:ext cx="1417320" cy="1133856"/>
          </a:xfrm>
          <a:prstGeom prst="line">
            <a:avLst/>
          </a:prstGeom>
          <a:ln w="15875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92440" y="2670048"/>
            <a:ext cx="384048" cy="38404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675120" y="2862072"/>
            <a:ext cx="1417320" cy="475487"/>
          </a:xfrm>
          <a:prstGeom prst="line">
            <a:avLst/>
          </a:prstGeom>
          <a:ln w="15875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092440" y="3328415"/>
            <a:ext cx="384048" cy="38404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3337559"/>
            <a:ext cx="1417320" cy="182880"/>
          </a:xfrm>
          <a:prstGeom prst="line">
            <a:avLst/>
          </a:prstGeom>
          <a:ln w="15875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92440" y="3986783"/>
            <a:ext cx="384048" cy="38404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337559"/>
            <a:ext cx="1417320" cy="841248"/>
          </a:xfrm>
          <a:prstGeom prst="line">
            <a:avLst/>
          </a:prstGeom>
          <a:ln w="15875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92440" y="4645152"/>
            <a:ext cx="384048" cy="384048"/>
          </a:xfrm>
          <a:prstGeom prst="ellipse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3337559"/>
            <a:ext cx="1417320" cy="1499617"/>
          </a:xfrm>
          <a:prstGeom prst="line">
            <a:avLst/>
          </a:prstGeom>
          <a:ln w="15875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0" y="5120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 i="0">
                <a:solidFill>
                  <a:srgbClr val="BD582C"/>
                </a:solidFill>
                <a:latin typeface="Aptos"/>
              </a:rPr>
              <a:t>N uploads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46303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008996"/>
                </a:solidFill>
                <a:latin typeface="Aptos"/>
              </a:rPr>
              <a:t>SFU</a:t>
            </a:r>
          </a:p>
        </p:txBody>
      </p:sp>
      <p:sp>
        <p:nvSpPr>
          <p:cNvPr id="25" name="Oval 24"/>
          <p:cNvSpPr/>
          <p:nvPr/>
        </p:nvSpPr>
        <p:spPr>
          <a:xfrm>
            <a:off x="8823960" y="3063239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6" name="Oval 25"/>
          <p:cNvSpPr/>
          <p:nvPr/>
        </p:nvSpPr>
        <p:spPr>
          <a:xfrm>
            <a:off x="10789920" y="2011679"/>
            <a:ext cx="384048" cy="384048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149840" y="2203703"/>
            <a:ext cx="640080" cy="1133856"/>
          </a:xfrm>
          <a:prstGeom prst="line">
            <a:avLst/>
          </a:prstGeom>
          <a:ln w="1397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789920" y="2670048"/>
            <a:ext cx="384048" cy="384048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149840" y="2862072"/>
            <a:ext cx="640080" cy="475487"/>
          </a:xfrm>
          <a:prstGeom prst="line">
            <a:avLst/>
          </a:prstGeom>
          <a:ln w="1397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789920" y="3328415"/>
            <a:ext cx="384048" cy="384048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49840" y="3337559"/>
            <a:ext cx="640080" cy="182880"/>
          </a:xfrm>
          <a:prstGeom prst="line">
            <a:avLst/>
          </a:prstGeom>
          <a:ln w="1397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789920" y="3986783"/>
            <a:ext cx="384048" cy="384048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49840" y="3337559"/>
            <a:ext cx="640080" cy="841248"/>
          </a:xfrm>
          <a:prstGeom prst="line">
            <a:avLst/>
          </a:prstGeom>
          <a:ln w="1397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789920" y="4645152"/>
            <a:ext cx="384048" cy="384048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49840" y="3337559"/>
            <a:ext cx="640080" cy="1499617"/>
          </a:xfrm>
          <a:prstGeom prst="line">
            <a:avLst/>
          </a:prstGeom>
          <a:ln w="13970">
            <a:solidFill>
              <a:srgbClr val="008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55480" y="3035808"/>
            <a:ext cx="594360" cy="603504"/>
          </a:xfrm>
          <a:prstGeom prst="roundRect">
            <a:avLst>
              <a:gd name="adj" fmla="val 2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SFU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72600" y="3337559"/>
            <a:ext cx="182880" cy="0"/>
          </a:xfrm>
          <a:prstGeom prst="line">
            <a:avLst/>
          </a:prstGeom>
          <a:ln w="38100">
            <a:solidFill>
              <a:srgbClr val="142F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32520" y="5120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 i="0">
                <a:solidFill>
                  <a:srgbClr val="008996"/>
                </a:solidFill>
                <a:latin typeface="Aptos"/>
              </a:rPr>
              <a:t>1 upload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Security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Flaw found: </a:t>
            </a:r>
            <a:r>
              <a:rPr sz="1700" b="0">
                <a:solidFill>
                  <a:srgbClr val="232A30"/>
                </a:solidFill>
                <a:latin typeface="Aptos"/>
              </a:rPr>
              <a:t>client declared its own role in the URL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Anyone with a room code could become instructor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Fix: </a:t>
            </a:r>
            <a:r>
              <a:rPr sz="1700" b="0">
                <a:solidFill>
                  <a:srgbClr val="232A30"/>
                </a:solidFill>
                <a:latin typeface="Aptos"/>
              </a:rPr>
              <a:t>HMAC-signed tokens; role read only from the token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Also: rate limits, timing-safe compare, fail-closed boot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25 – Before and after the authentication rework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53619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B3261E"/>
                </a:solidFill>
                <a:latin typeface="Aptos"/>
              </a:rPr>
              <a:t>Before – client asserts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20239"/>
            <a:ext cx="4983480" cy="457200"/>
          </a:xfrm>
          <a:prstGeom prst="roundRect">
            <a:avLst>
              <a:gd name="adj" fmla="val 10000"/>
            </a:avLst>
          </a:pr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150" b="0" i="0">
                <a:solidFill>
                  <a:srgbClr val="F8C9B4"/>
                </a:solidFill>
                <a:latin typeface="Consolas"/>
              </a:rPr>
              <a:t>ws://host/ws?room=ABC123&amp;role=instructor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68880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Accepted by the server: a full authorisation bypass.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47472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54787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2E7D4F"/>
                </a:solidFill>
                <a:latin typeface="Aptos"/>
              </a:rPr>
              <a:t>After – server proves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4983480" cy="457200"/>
          </a:xfrm>
          <a:prstGeom prst="roundRect">
            <a:avLst>
              <a:gd name="adj" fmla="val 10000"/>
            </a:avLst>
          </a:pr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150" b="0" i="0">
                <a:solidFill>
                  <a:srgbClr val="A8E6EA"/>
                </a:solidFill>
                <a:latin typeface="Consolas"/>
              </a:rPr>
              <a:t>ws://host/ws?token=eyJyb2xl… (signed)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480559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232A30"/>
                </a:solidFill>
                <a:latin typeface="Aptos"/>
              </a:rPr>
              <a:t>Instructor token 12 h · student token 8 h. Client role parameters are never read.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AI Agent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Seven agents share one contract: name, version, invoke, healthCheck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Each agent is feature-flagged by an environment variable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Agents talk only through LangGraph state, never directly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Per-session queue: max 2 AI calls in 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26 – The seven LangGraph agents and their triggers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Trigger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Error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failed run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cause + fix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Intent detection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transcript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share suggestion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Transcript explainer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new segment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guide 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Comprehension coach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block published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Student messaging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answer / escalate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Notebook (Colab)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notebook link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diagnosis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42F4E"/>
                          </a:solidFill>
                          <a:latin typeface="Aptos"/>
                        </a:rPr>
                        <a:t>Assessment author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test questions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Implementation – Build &amp;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Push to main deploys all three targets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Backend to Render with schema migrations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Student app and landing page to Vercel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Installers: version bump, tag, signed Windows + Linux builds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isTauri guard: UI preview in a browser, seconds not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27 – Automated deployment from one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331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 i="0">
                <a:solidFill>
                  <a:srgbClr val="232A30"/>
                </a:solidFill>
                <a:latin typeface="Aptos"/>
              </a:rPr>
              <a:t>Backend + migrations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360920" y="2715768"/>
            <a:ext cx="411480" cy="914400"/>
          </a:xfrm>
          <a:prstGeom prst="line">
            <a:avLst/>
          </a:prstGeom>
          <a:ln w="15875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3383279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Vercel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383279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 i="0">
                <a:solidFill>
                  <a:srgbClr val="232A30"/>
                </a:solidFill>
                <a:latin typeface="Aptos"/>
              </a:rPr>
              <a:t>Student app + landing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3630168"/>
            <a:ext cx="411480" cy="137160"/>
          </a:xfrm>
          <a:prstGeom prst="line">
            <a:avLst/>
          </a:prstGeom>
          <a:ln w="15875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0" y="44348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4348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 i="0">
                <a:solidFill>
                  <a:srgbClr val="232A30"/>
                </a:solidFill>
                <a:latin typeface="Aptos"/>
              </a:rPr>
              <a:t>Signed installers + auto-update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3630168"/>
            <a:ext cx="411480" cy="1188720"/>
          </a:xfrm>
          <a:prstGeom prst="line">
            <a:avLst/>
          </a:prstGeom>
          <a:ln w="15875">
            <a:solidFill>
              <a:srgbClr val="5A6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3246120"/>
            <a:ext cx="1325880" cy="77724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9050">
            <a:solidFill>
              <a:srgbClr val="14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142F4E"/>
                </a:solidFill>
                <a:latin typeface="Aptos"/>
              </a:rPr>
              <a:t>git push main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Instructor app: </a:t>
            </a:r>
            <a:r>
              <a:rPr sz="1600" b="0">
                <a:solidFill>
                  <a:srgbClr val="232A30"/>
                </a:solidFill>
                <a:latin typeface="Aptos"/>
              </a:rPr>
              <a:t>setup, present bar, live rail, settings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Capture &amp; streaming: </a:t>
            </a:r>
            <a:r>
              <a:rPr sz="1600" b="0">
                <a:solidFill>
                  <a:srgbClr val="232A30"/>
                </a:solidFill>
                <a:latin typeface="Aptos"/>
              </a:rPr>
              <a:t>Rust capture, SFU, TURN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Backend relay: </a:t>
            </a:r>
            <a:r>
              <a:rPr sz="1600" b="0">
                <a:solidFill>
                  <a:srgbClr val="232A30"/>
                </a:solidFill>
                <a:latin typeface="Aptos"/>
              </a:rPr>
              <a:t>token auth, rooms, REST routes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AI agent layer: </a:t>
            </a:r>
            <a:r>
              <a:rPr sz="1600" b="0">
                <a:solidFill>
                  <a:srgbClr val="232A30"/>
                </a:solidFill>
                <a:latin typeface="Aptos"/>
              </a:rPr>
              <a:t>7 graphs, queue, gates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Student app: </a:t>
            </a:r>
            <a:r>
              <a:rPr sz="1600" b="0">
                <a:solidFill>
                  <a:srgbClr val="232A30"/>
                </a:solidFill>
                <a:latin typeface="Aptos"/>
              </a:rPr>
              <a:t>join, guide, sandbox, AI help, Q&amp;A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600" b="0">
                <a:solidFill>
                  <a:srgbClr val="232A30"/>
                </a:solidFill>
                <a:latin typeface="Aptos"/>
              </a:rPr>
              <a:t>• </a:t>
            </a:r>
            <a:r>
              <a:rPr sz="1600" b="1">
                <a:solidFill>
                  <a:srgbClr val="142F4E"/>
                </a:solidFill>
                <a:latin typeface="Aptos"/>
              </a:rPr>
              <a:t>Assessments: </a:t>
            </a:r>
            <a:r>
              <a:rPr sz="1600" b="0">
                <a:solidFill>
                  <a:srgbClr val="232A30"/>
                </a:solidFill>
                <a:latin typeface="Aptos"/>
              </a:rPr>
              <a:t>author, attempt, score, proctor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28 – Six modules of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72200" y="1618487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591055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Instructor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76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wkai/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463039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0" y="1618487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591055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Capture &amp;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76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src-tauri, sfu/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807208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72200" y="2962656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93522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Backend relay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2043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src/ws, routes/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807208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0" y="2962656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93522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AI agent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52043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src/ai/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151376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72200" y="4306824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4279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Student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8646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wkai-student/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4151376"/>
            <a:ext cx="2560320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8869680" y="4306824"/>
            <a:ext cx="420624" cy="420624"/>
          </a:xfrm>
          <a:prstGeom prst="ellipse">
            <a:avLst/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4279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42F4E"/>
                </a:solidFill>
                <a:latin typeface="Aptos"/>
              </a:rPr>
              <a:t>Assessments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8646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 i="0">
                <a:solidFill>
                  <a:srgbClr val="006B75"/>
                </a:solidFill>
                <a:latin typeface="Consolas"/>
              </a:rPr>
              <a:t>routes/assessments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Module Description – Assessments &amp;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Author: </a:t>
            </a:r>
            <a:r>
              <a:rPr sz="1700" b="0">
                <a:solidFill>
                  <a:srgbClr val="232A30"/>
                </a:solidFill>
                <a:latin typeface="Aptos"/>
              </a:rPr>
              <a:t>AI assessment agent or by hand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Attempt: </a:t>
            </a:r>
            <a:r>
              <a:rPr sz="1700" b="0">
                <a:solidFill>
                  <a:srgbClr val="232A30"/>
                </a:solidFill>
                <a:latin typeface="Aptos"/>
              </a:rPr>
              <a:t>questions sent without the answer key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Score: </a:t>
            </a:r>
            <a:r>
              <a:rPr sz="1700" b="0">
                <a:solidFill>
                  <a:srgbClr val="232A30"/>
                </a:solidFill>
                <a:latin typeface="Aptos"/>
              </a:rPr>
              <a:t>computed on the server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Proctor: </a:t>
            </a:r>
            <a:r>
              <a:rPr sz="1700" b="0">
                <a:solidFill>
                  <a:srgbClr val="232A30"/>
                </a:solidFill>
                <a:latin typeface="Aptos"/>
              </a:rPr>
              <a:t>focus loss, paste, tab changes recorded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MCP server: </a:t>
            </a:r>
            <a:r>
              <a:rPr sz="1700" b="0">
                <a:solidFill>
                  <a:srgbClr val="232A30"/>
                </a:solidFill>
                <a:latin typeface="Aptos"/>
              </a:rPr>
              <a:t>an AI agent can run a whole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29 – Assessment module and the agent-facing MCP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Author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AI or manual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463039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Attempt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no answer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63039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 w="15875">
            <a:solidFill>
              <a:srgbClr val="008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Score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server-side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463039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2F4E"/>
                </a:solidFill>
                <a:latin typeface="Aptos"/>
              </a:rPr>
              <a:t>Proctor</a:t>
            </a:r>
          </a:p>
          <a:p>
            <a:pPr algn="ctr"/>
            <a:r>
              <a:rPr sz="1000" b="0" i="0">
                <a:solidFill>
                  <a:srgbClr val="232A30"/>
                </a:solidFill>
                <a:latin typeface="Aptos"/>
              </a:rPr>
              <a:t>events recorded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743200"/>
            <a:ext cx="5257800" cy="2697480"/>
          </a:xfrm>
          <a:prstGeom prst="roundRect">
            <a:avLst>
              <a:gd name="adj" fmla="val 6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3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MCP tools (wkai_*)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create_session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24612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connect_instructor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send_screen_frame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749039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speak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share_file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25196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reply_to_student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5488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list_students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75488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1F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0" i="0">
                <a:solidFill>
                  <a:srgbClr val="9FD9DE"/>
                </a:solidFill>
                <a:latin typeface="Consolas"/>
              </a:rPr>
              <a:t>end_session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Starting a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Instructor enters name, title, optional password and share folder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One button starts the session and moves the app to the tray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 six-character room code is issued with a 12 h token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Objective met: </a:t>
            </a:r>
            <a:r>
              <a:rPr sz="1700" b="0">
                <a:solidFill>
                  <a:srgbClr val="232A30"/>
                </a:solidFill>
                <a:latin typeface="Aptos"/>
              </a:rPr>
              <a:t>O1 – one form, one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30 – Instructor desktop app – start a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31</a:t>
            </a:r>
          </a:p>
        </p:txBody>
      </p:sp>
      <p:pic>
        <p:nvPicPr>
          <p:cNvPr id="11" name="Picture 10" descr="fig_instructor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Student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Student types a name, the room code and a password if set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Password is checked on the server, never in the browser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Server returns a signed 8 h join token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Objective met: </a:t>
            </a:r>
            <a:r>
              <a:rPr sz="1700" b="0">
                <a:solidFill>
                  <a:srgbClr val="232A30"/>
                </a:solidFill>
                <a:latin typeface="Aptos"/>
              </a:rPr>
              <a:t>O4 – zero install, token-secured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31 – Student web app – join with the room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32</a:t>
            </a:r>
          </a:p>
        </p:txBody>
      </p:sp>
      <p:pic>
        <p:nvPicPr>
          <p:cNvPr id="11" name="Picture 10" descr="shot_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Live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Guide written from the instructor's screen and speech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Typed blocks: step, explanation, tip, code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Each block timestamped; code blocks copyable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Objective met: </a:t>
            </a:r>
            <a:r>
              <a:rPr sz="1700" b="0">
                <a:solidFill>
                  <a:srgbClr val="232A30"/>
                </a:solidFill>
                <a:latin typeface="Aptos"/>
              </a:rPr>
              <a:t>O2 – live structured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32 – Live guide generated during an 'Intro to Python loops'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33</a:t>
            </a:r>
          </a:p>
        </p:txBody>
      </p:sp>
      <p:pic>
        <p:nvPicPr>
          <p:cNvPr id="11" name="Picture 10" descr="shot_gu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AI Helper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Sandbox runs Python, JavaScript, TypeScript and Bash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 failed run triggers diagnosis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Returns a plain-language cause and one fix command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Objective met: </a:t>
            </a:r>
            <a:r>
              <a:rPr sz="1700" b="0">
                <a:solidFill>
                  <a:srgbClr val="232A30"/>
                </a:solidFill>
                <a:latin typeface="Aptos"/>
              </a:rPr>
              <a:t>O3 – grounded error diagnosis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33 – AI Helper – sandbox, error diagnosis and notebook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34</a:t>
            </a:r>
          </a:p>
        </p:txBody>
      </p:sp>
      <p:pic>
        <p:nvPicPr>
          <p:cNvPr id="11" name="Picture 10" descr="fig_student_ai_hel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Private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Questions are private between student and instructor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Unanswered after 45 s → the AI replies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Replies are labelled Instructor or AI assistant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Answers use this session's own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34 – Private Q&amp;A thread with instructor and AI replies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35</a:t>
            </a:r>
          </a:p>
        </p:txBody>
      </p:sp>
      <p:pic>
        <p:nvPicPr>
          <p:cNvPr id="11" name="Picture 10" descr="shot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Comprehension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Quick checks generated from recent guide content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Answers are evaluated on the server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Guide unlocks after a correct answer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Gating is client-side and stated as advisory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35 – Comprehension check generated from the live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36</a:t>
            </a:r>
          </a:p>
        </p:txBody>
      </p:sp>
      <p:pic>
        <p:nvPicPr>
          <p:cNvPr id="11" name="Picture 10" descr="shot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08797"/>
            <a:ext cx="5257800" cy="3286124"/>
          </a:xfrm>
          <a:prstGeom prst="rect">
            <a:avLst/>
          </a:prstGeom>
          <a:ln w="9525">
            <a:solidFill>
              <a:srgbClr val="D2DAE0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13 system test cases, all passed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Most are regression tests for defects fixed this phase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Role spoofing, reconnect loop and lost broadcasts closed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Security abuse attempts all rejected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36 – Selected system test cases and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?role=instructor, no token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 ends session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Connect to ended room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Diagnosis burst from class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Join with correct password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Share from watched folder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Instructor joins full room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No SFU configured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32A30"/>
                          </a:solidFill>
                          <a:latin typeface="Aptos"/>
                        </a:rPr>
                        <a:t>Block only narrates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7D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Results &amp; Outputs – Objective-wise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All five objectives met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Quality limits outside the code are stated, not hidden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Caveat: </a:t>
            </a:r>
            <a:r>
              <a:rPr sz="1700" b="0">
                <a:solidFill>
                  <a:srgbClr val="232A30"/>
                </a:solidFill>
                <a:latin typeface="Aptos"/>
              </a:rPr>
              <a:t>free inference tier bounds guide volume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Caveat: </a:t>
            </a:r>
            <a:r>
              <a:rPr sz="1700" b="0">
                <a:solidFill>
                  <a:srgbClr val="232A30"/>
                </a:solidFill>
                <a:latin typeface="Aptos"/>
              </a:rPr>
              <a:t>quiz gating and proctoring are advisory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37 – Evaluation of the delivered system against each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45919"/>
          <a:ext cx="5257800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Obj.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2F4E"/>
                          </a:solidFill>
                          <a:latin typeface="Aptos"/>
                        </a:rPr>
                        <a:t>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32A30"/>
                          </a:solidFill>
                          <a:latin typeface="Aptos"/>
                        </a:rPr>
                        <a:t>One form → live; ~37 fps; SFU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2F4E"/>
                          </a:solidFill>
                          <a:latin typeface="Aptos"/>
                        </a:rPr>
                        <a:t>O2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32A30"/>
                          </a:solidFill>
                          <a:latin typeface="Aptos"/>
                        </a:rPr>
                        <a:t>Live blocks; grounding filter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2F4E"/>
                          </a:solidFill>
                          <a:latin typeface="Aptos"/>
                        </a:rPr>
                        <a:t>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32A30"/>
                          </a:solidFill>
                          <a:latin typeface="Aptos"/>
                        </a:rPr>
                        <a:t>Auto-diagnosis; TC-4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2F4E"/>
                          </a:solidFill>
                          <a:latin typeface="Aptos"/>
                        </a:rPr>
                        <a:t>O4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32A30"/>
                          </a:solidFill>
                          <a:latin typeface="Aptos"/>
                        </a:rPr>
                        <a:t>Browser only; TC-1, TC-5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42F4E"/>
                          </a:solidFill>
                          <a:latin typeface="Aptos"/>
                        </a:rPr>
                        <a:t>O5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32A30"/>
                          </a:solidFill>
                          <a:latin typeface="Aptos"/>
                        </a:rPr>
                        <a:t>Abuse attempts rejected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4F"/>
                          </a:solidFill>
                          <a:latin typeface="Aptos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Performance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Metric: </a:t>
            </a:r>
            <a:r>
              <a:rPr sz="1700" b="0">
                <a:solidFill>
                  <a:srgbClr val="232A30"/>
                </a:solidFill>
                <a:latin typeface="Aptos"/>
              </a:rPr>
              <a:t>per-frame capture and encode cost (ms)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Condition: </a:t>
            </a:r>
            <a:r>
              <a:rPr sz="1700" b="0">
                <a:solidFill>
                  <a:srgbClr val="232A30"/>
                </a:solidFill>
                <a:latin typeface="Aptos"/>
              </a:rPr>
              <a:t>1920×1200 desktop, development machine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Baseline: </a:t>
            </a:r>
            <a:r>
              <a:rPr sz="1700" b="0">
                <a:solidFill>
                  <a:srgbClr val="232A30"/>
                </a:solidFill>
                <a:latin typeface="Aptos"/>
              </a:rPr>
              <a:t>previous JPEG encoder, 36 ms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Proposed: </a:t>
            </a:r>
            <a:r>
              <a:rPr sz="1700" b="0">
                <a:solidFill>
                  <a:srgbClr val="232A30"/>
                </a:solidFill>
                <a:latin typeface="Aptos"/>
              </a:rPr>
              <a:t>SIMD encoder, 17.2 ms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Finding: </a:t>
            </a:r>
            <a:r>
              <a:rPr sz="1700" b="0">
                <a:solidFill>
                  <a:srgbClr val="232A30"/>
                </a:solidFill>
                <a:latin typeface="Aptos"/>
              </a:rPr>
              <a:t>2.1× faster; ~37 fps, capture-bound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38 – Per-frame cost of each capture stage 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39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035040" y="1463039"/>
          <a:ext cx="52578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Performance Evaluation –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Measured informally on broadband, not a load test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Transcription ~180× faster than real time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Diagnosis within a few seconds end to end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Class-wide bursts queued, never rate-limited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Honest limit: </a:t>
            </a:r>
            <a:r>
              <a:rPr sz="1700" b="0">
                <a:solidFill>
                  <a:srgbClr val="232A30"/>
                </a:solidFill>
                <a:latin typeface="Aptos"/>
              </a:rPr>
              <a:t>~50 vision frames/day on the free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39 – Observed latency of key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Operation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Transcribe 30 s audio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&lt; 0.2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Error classification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sub-second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Full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 few seconds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Guide block per frame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a few seconds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Join → first render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sub-second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Reconnect within 8 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no interruption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Cohort diagnosis burst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queued, bounded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Vision tokens per frame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~3,900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Performance Evaluation – Test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106 automated tests across four suites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Unit suite runs in ~10 s, before every commit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End-to-end tests use real HTTP and sockets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TypeScript and cargo builds act as gates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Media pipeline still verified by 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40 – Automated tests by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41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035040" y="1463039"/>
          <a:ext cx="52578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Comparison with Existing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Criteria: </a:t>
            </a:r>
            <a:r>
              <a:rPr sz="1700" b="0">
                <a:solidFill>
                  <a:srgbClr val="232A30"/>
                </a:solidFill>
                <a:latin typeface="Aptos"/>
              </a:rPr>
              <a:t>capture, upload, auth, bursts, restarts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Baseline: </a:t>
            </a:r>
            <a:r>
              <a:rPr sz="1700" b="0">
                <a:solidFill>
                  <a:srgbClr val="232A30"/>
                </a:solidFill>
                <a:latin typeface="Aptos"/>
              </a:rPr>
              <a:t>our own Phase-I system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Proposed: </a:t>
            </a:r>
            <a:r>
              <a:rPr sz="1700" b="0">
                <a:solidFill>
                  <a:srgbClr val="232A30"/>
                </a:solidFill>
                <a:latin typeface="Aptos"/>
              </a:rPr>
              <a:t>Phase-II WKAI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Improvement: </a:t>
            </a:r>
            <a:r>
              <a:rPr sz="1700" b="0">
                <a:solidFill>
                  <a:srgbClr val="232A30"/>
                </a:solidFill>
                <a:latin typeface="Aptos"/>
              </a:rPr>
              <a:t>measured on the same code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41 – Phase-I baseline versus Phase-II WKAI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463039"/>
          <a:ext cx="5257800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Phase I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Phase II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Screen capture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Browser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Native Rust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JPEG encode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36 ms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17.2 ms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Instructor upload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N streams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1 stream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TURN credentials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Static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Server-minted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Instructor 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?role param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Signed token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AI burst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Rate-limited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Queued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Backend restart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Rooms lost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Rooms survive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F4E"/>
                          </a:solidFill>
                          <a:latin typeface="Aptos"/>
                        </a:rPr>
                        <a:t>Guide control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32A30"/>
                          </a:solidFill>
                          <a:latin typeface="Aptos"/>
                        </a:rPr>
                        <a:t>2 gates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Comparison with Existing Work – Related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LeafTutor diagnoses code errors, but offline with a spec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Tutor CoPilot assists live tutors, but sees no screen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MultiTutor coordinates agents, but not live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Zoom / Meet stream live, but understand nothing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WKAI: </a:t>
            </a:r>
            <a:r>
              <a:rPr sz="1700" b="0">
                <a:solidFill>
                  <a:srgbClr val="232A30"/>
                </a:solidFill>
                <a:latin typeface="Aptos"/>
              </a:rPr>
              <a:t>all of these, live, in one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42 – WKAI compared with the closest related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554480"/>
          <a:ext cx="5257800" cy="3639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Leaf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ptos"/>
                        </a:rPr>
                        <a:t>Tutor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Tutor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ptos"/>
                        </a:rPr>
                        <a:t>CoPilot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Multi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ptos"/>
                        </a:rPr>
                        <a:t>Tutor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Zoom/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ptos"/>
                        </a:rPr>
                        <a:t>Meet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WKAI</a:t>
                      </a:r>
                    </a:p>
                  </a:txBody>
                  <a:tcPr marL="73152" marR="73152" marT="27432" marB="27432" anchor="ctr">
                    <a:solidFill>
                      <a:srgbClr val="0089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Live session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Screen input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Code-error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No spec needed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Written guide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42F4E"/>
                          </a:solidFill>
                          <a:latin typeface="Aptos"/>
                        </a:rPr>
                        <a:t>Zero install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B3261E"/>
                          </a:solidFill>
                          <a:latin typeface="Aptos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E7D4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A live session can write its own study material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Native capture + SFU make it work for a real class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Signed tokens closed the role hijack and enable future work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The binding constraint was engineering, not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43 –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17920" y="1627631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39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>
                <a:solidFill>
                  <a:srgbClr val="142F4E"/>
                </a:solidFill>
                <a:latin typeface="Aptos"/>
              </a:rPr>
              <a:t>Guide, checks and help produced during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7920" y="2633472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>
                <a:solidFill>
                  <a:srgbClr val="142F4E"/>
                </a:solidFill>
                <a:latin typeface="Aptos"/>
              </a:rPr>
              <a:t>~37 fps capture, one uplink for the room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47472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17920" y="3639312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>
                <a:solidFill>
                  <a:srgbClr val="142F4E"/>
                </a:solidFill>
                <a:latin typeface="Aptos"/>
              </a:rPr>
              <a:t>Security rework became an enabling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48056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17920" y="4645152"/>
            <a:ext cx="548640" cy="548640"/>
          </a:xfrm>
          <a:prstGeom prst="ellipse">
            <a:avLst/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48056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>
                <a:solidFill>
                  <a:srgbClr val="142F4E"/>
                </a:solidFill>
                <a:latin typeface="Aptos"/>
              </a:rPr>
              <a:t>The frontier was the plumbing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Conclusion &amp; Future Scope – Limitations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Limitations: </a:t>
            </a:r>
            <a:r>
              <a:rPr sz="1700" b="0">
                <a:solidFill>
                  <a:srgbClr val="232A30"/>
                </a:solidFill>
                <a:latin typeface="Aptos"/>
              </a:rPr>
              <a:t>macOS capture stub; advisory quiz gating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Free inference tier ≈ 50 vision frames/day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Near term: </a:t>
            </a:r>
            <a:r>
              <a:rPr sz="1700" b="0">
                <a:solidFill>
                  <a:srgbClr val="232A30"/>
                </a:solidFill>
                <a:latin typeface="Aptos"/>
              </a:rPr>
              <a:t>send frames only on change; macOS capture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Medium term: </a:t>
            </a:r>
            <a:r>
              <a:rPr sz="1700" b="0">
                <a:solidFill>
                  <a:srgbClr val="232A30"/>
                </a:solidFill>
                <a:latin typeface="Aptos"/>
              </a:rPr>
              <a:t>student companion app; split AI workers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Long term: </a:t>
            </a:r>
            <a:r>
              <a:rPr sz="1700" b="0">
                <a:solidFill>
                  <a:srgbClr val="232A30"/>
                </a:solidFill>
                <a:latin typeface="Aptos"/>
              </a:rPr>
              <a:t>LMS export; multi-instance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44 – Future work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1234440" cy="1188720"/>
          </a:xfrm>
          <a:prstGeom prst="roundRect">
            <a:avLst>
              <a:gd name="adj" fmla="val 10000"/>
            </a:avLst>
          </a:prstGeom>
          <a:solidFill>
            <a:srgbClr val="008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Near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term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463039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1463039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 i="0">
                <a:solidFill>
                  <a:srgbClr val="232A30"/>
                </a:solidFill>
                <a:latin typeface="Aptos"/>
              </a:rPr>
              <a:t>Cheaper frames · macOS capture · media regression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807208"/>
            <a:ext cx="1234440" cy="1188720"/>
          </a:xfrm>
          <a:prstGeom prst="roundRect">
            <a:avLst>
              <a:gd name="adj" fmla="val 10000"/>
            </a:avLst>
          </a:prstGeom>
          <a:solidFill>
            <a:srgbClr val="00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Medium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term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807208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0" y="2807208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 i="0">
                <a:solidFill>
                  <a:srgbClr val="232A30"/>
                </a:solidFill>
                <a:latin typeface="Aptos"/>
              </a:rPr>
              <a:t>Student companion app · separate inference workers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151376"/>
            <a:ext cx="1234440" cy="1188720"/>
          </a:xfrm>
          <a:prstGeom prst="roundRect">
            <a:avLst>
              <a:gd name="adj" fmla="val 10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Long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term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151376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4151376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 i="0">
                <a:solidFill>
                  <a:srgbClr val="232A30"/>
                </a:solidFill>
                <a:latin typeface="Aptos"/>
              </a:rPr>
              <a:t>LMS export · event-sourced sessions · rubric scoring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Conclusion &amp; Future Scope – Project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ICEST-27: </a:t>
            </a:r>
            <a:r>
              <a:rPr sz="1700" b="0">
                <a:solidFill>
                  <a:srgbClr val="232A30"/>
                </a:solidFill>
                <a:latin typeface="Aptos"/>
              </a:rPr>
              <a:t>conference paper accepted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KSCST SPP 50th series: </a:t>
            </a:r>
            <a:r>
              <a:rPr sz="1700" b="0">
                <a:solidFill>
                  <a:srgbClr val="232A30"/>
                </a:solidFill>
                <a:latin typeface="Aptos"/>
              </a:rPr>
              <a:t>proposal prepared, to be submitted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Report: </a:t>
            </a:r>
            <a:r>
              <a:rPr sz="1700" b="0">
                <a:solidFill>
                  <a:srgbClr val="232A30"/>
                </a:solidFill>
                <a:latin typeface="Aptos"/>
              </a:rPr>
              <a:t>Phase-II project report complete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700" b="0">
                <a:solidFill>
                  <a:srgbClr val="232A30"/>
                </a:solidFill>
                <a:latin typeface="Aptos"/>
              </a:rPr>
              <a:t>• </a:t>
            </a:r>
            <a:r>
              <a:rPr sz="1700" b="1">
                <a:solidFill>
                  <a:srgbClr val="142F4E"/>
                </a:solidFill>
                <a:latin typeface="Aptos"/>
              </a:rPr>
              <a:t>Releases: </a:t>
            </a:r>
            <a:r>
              <a:rPr sz="1700" b="0">
                <a:solidFill>
                  <a:srgbClr val="232A30"/>
                </a:solidFill>
                <a:latin typeface="Aptos"/>
              </a:rPr>
              <a:t>signed Windows and Linux installers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Fig. 45 – Publications and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39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39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ICEST-27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691639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Accepted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KSCST SPP proposal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47472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4747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Project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70332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480560"/>
            <a:ext cx="5257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4805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 i="0">
                <a:solidFill>
                  <a:srgbClr val="142F4E"/>
                </a:solidFill>
                <a:latin typeface="Aptos"/>
              </a:rPr>
              <a:t>Desktop releases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7091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Shipped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81F6CEC5-FBF5-A833-CE7F-B9D61DD5ED8D}"/>
              </a:ext>
            </a:extLst>
          </p:cNvPr>
          <p:cNvSpPr/>
          <p:nvPr/>
        </p:nvSpPr>
        <p:spPr>
          <a:xfrm>
            <a:off x="9464040" y="2692908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Accepted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742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42F4E"/>
                </a:solidFill>
                <a:latin typeface="Aptos Display"/>
              </a:rPr>
              <a:t>References (1/</a:t>
            </a:r>
            <a:r>
              <a:rPr lang="en-US" sz="2600" b="1" dirty="0">
                <a:solidFill>
                  <a:srgbClr val="142F4E"/>
                </a:solidFill>
                <a:latin typeface="Aptos Display"/>
              </a:rPr>
              <a:t>3</a:t>
            </a:r>
            <a:r>
              <a:rPr sz="2600" b="1" dirty="0">
                <a:solidFill>
                  <a:srgbClr val="142F4E"/>
                </a:solidFill>
                <a:latin typeface="Aptos Display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1155680" cy="456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[1] M. Bochard et al., "LeafTutor: An AI Agent for Programming Assignment Tutoring," arXiv, 2026.</a:t>
            </a:r>
          </a:p>
          <a:p>
            <a:r>
              <a:t>[2] T. Yang et al., "MMTutorBench: First Multimodal Benchmark for AI Math Tutoring," ACL, 2026.</a:t>
            </a:r>
          </a:p>
          <a:p>
            <a:r>
              <a:t>[3] M. Zerkouk et al., "A Comprehensive Review of AI-based Intelligent Tutoring Systems," arXiv, 2025.</a:t>
            </a:r>
          </a:p>
          <a:p>
            <a:r>
              <a:t>[4] H. Li et al., "Video-MMLU: Massive Multi-Discipline Lecture Understanding Benchmark," CVPR, 2025.</a:t>
            </a:r>
          </a:p>
          <a:p>
            <a:r>
              <a:t>[5] G. Mathur et al., "MathBuddy: Multimodal System for Affective Math Tutoring," EMNLP Demos, 2025.</a:t>
            </a:r>
          </a:p>
          <a:p>
            <a:r>
              <a:t>[6] S. R. et al., "MultiTutor: Collaborative LLM Agents for Multimodal Student Support," PMLR, 2025.</a:t>
            </a:r>
          </a:p>
          <a:p>
            <a:r>
              <a:t>[7] M. Schmucker et al., "Ruffle &amp; Riley: LLM-Based Conversational Tutoring System," AIED, 2024.</a:t>
            </a:r>
          </a:p>
          <a:p>
            <a:r>
              <a:t>[8] S. Wang et al., "Tutor CoPilot: A Human-AI Approach for Scaling Real-Time Expertise," Stanford,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742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42F4E"/>
                </a:solidFill>
                <a:latin typeface="Aptos Display"/>
              </a:rPr>
              <a:t>References (2/</a:t>
            </a:r>
            <a:r>
              <a:rPr lang="en-US" sz="2600" b="1" dirty="0">
                <a:solidFill>
                  <a:srgbClr val="142F4E"/>
                </a:solidFill>
                <a:latin typeface="Aptos Display"/>
              </a:rPr>
              <a:t>3</a:t>
            </a:r>
            <a:r>
              <a:rPr sz="2600" b="1" dirty="0">
                <a:solidFill>
                  <a:srgbClr val="142F4E"/>
                </a:solidFill>
                <a:latin typeface="Aptos Display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234440"/>
            <a:ext cx="11050325" cy="496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[9] P. Denny et al., "Computing Education in the Era of Generative AI," Communications of the ACM, 2024.</a:t>
            </a:r>
          </a:p>
          <a:p>
            <a:r>
              <a:t>[10] C.-F. Yeh et al., "ScreenAI: Vision-Language Model for UI and Infographics Understanding," IJCAI, 2024.</a:t>
            </a:r>
          </a:p>
          <a:p>
            <a:r>
              <a:t>[11] Qwen Team, "Qwen2-VL: Enhancing Vision-Language Models with Dynamic Resolution," Alibaba, 2024.</a:t>
            </a:r>
          </a:p>
          <a:p>
            <a:r>
              <a:t>[12] OpenAI, "Whisper Large-v3: Robust Speech Recognition via Scaled Weak Supervision," OpenAI, 2024.</a:t>
            </a:r>
          </a:p>
          <a:p>
            <a:r>
              <a:t>[13] Q. Wu et al., "AutoGen: Enabling Next-Gen LLM Applications via Multi-Agent Conversation," MSR, 2024.</a:t>
            </a:r>
          </a:p>
          <a:p>
            <a:r>
              <a:t>[14] LangChain / LangGraph, "LangGraph: Multi-Agent Orchestration Framework," LangChain Inc., 2025.</a:t>
            </a:r>
          </a:p>
          <a:p>
            <a:r>
              <a:t>[15] Model Context Protocol Authors, "Model Context Protocol (MCP) Specification," Anthropic, 2024.</a:t>
            </a:r>
          </a:p>
          <a:p>
            <a:r>
              <a:t>[16] D. Abts et al., "ThinkFast: A Tensor Streaming Processor for Accelerating Deep Learning," IEEE Micro,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760EF-3650-D174-09A9-66517F3D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E11E66-74ED-242A-CE99-6582447FAAE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95FAB-341E-034E-1B10-E9F95C5B49CB}"/>
              </a:ext>
            </a:extLst>
          </p:cNvPr>
          <p:cNvSpPr txBox="1"/>
          <p:nvPr/>
        </p:nvSpPr>
        <p:spPr>
          <a:xfrm>
            <a:off x="502920" y="320040"/>
            <a:ext cx="25742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 (3/3)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0520A-57EF-739A-8FBD-52E90F4BDC1F}"/>
              </a:ext>
            </a:extLst>
          </p:cNvPr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4E880-BE87-4C92-EABA-E28CB01518B9}"/>
              </a:ext>
            </a:extLst>
          </p:cNvPr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85E91-640E-3750-14C6-37C899A95EDD}"/>
              </a:ext>
            </a:extLst>
          </p:cNvPr>
          <p:cNvSpPr txBox="1"/>
          <p:nvPr/>
        </p:nvSpPr>
        <p:spPr>
          <a:xfrm>
            <a:off x="685799" y="1234440"/>
            <a:ext cx="11050325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[17] Groq Inc., "Groq LPU Inference Engine Documentation and API Reference," Groq, Inc., 2026.</a:t>
            </a:r>
          </a:p>
          <a:p>
            <a:r>
              <a:t>[18] W3C, "WebRTC 1.0: Real-Time Communication Between Browsers," W3C Recommendation Update, 2024.</a:t>
            </a:r>
          </a:p>
          <a:p>
            <a:r>
              <a:t>[19] J. Uberti and C. Jennings, "Javascript Session Establishment Protocol (JSEP)," IETF RFC Update, 2024.</a:t>
            </a:r>
          </a:p>
          <a:p>
            <a:r>
              <a:t>[20] Cloudflare Inc., "Cloudflare Calls: WebRTC SFU and TURN Documentation," Cloudflare, 2026.</a:t>
            </a:r>
          </a:p>
          <a:p>
            <a:r>
              <a:t>[21] LiveKit, "LiveKit Server: Real-Time Media and WebRTC SFU SDK Documentation," LiveKit, 2026.</a:t>
            </a:r>
          </a:p>
          <a:p>
            <a:r>
              <a:t>[22] Tauri Development Team, "Tauri v2 Architecture: Desktop Webview Applications in Rust," 2026.</a:t>
            </a:r>
          </a:p>
          <a:p>
            <a:r>
              <a:t>[23] W3C, "WebAssembly Core Specification 2.0: High-Performance Web Sandboxing," W3C Standards, 2024.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63ECE-E0F2-CDE0-14EC-5F8DA0F05AC8}"/>
              </a:ext>
            </a:extLst>
          </p:cNvPr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FBED9-9E64-8334-CF7F-1747B36031C0}"/>
              </a:ext>
            </a:extLst>
          </p:cNvPr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585520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F4E"/>
                </a:solidFill>
                <a:latin typeface="Aptos Display"/>
              </a:rPr>
              <a:t>Thank You /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Aptos"/>
              </a:rPr>
              <a:t>VTU Major Project – Phase II  | 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92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Questions &amp; Discussion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Project: </a:t>
            </a:r>
            <a:r>
              <a:rPr sz="1800" b="0">
                <a:solidFill>
                  <a:srgbClr val="232A30"/>
                </a:solidFill>
                <a:latin typeface="Aptos"/>
              </a:rPr>
              <a:t>WKAI – Workshop AI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Team ID: </a:t>
            </a:r>
            <a:r>
              <a:rPr sz="1800" b="0">
                <a:solidFill>
                  <a:srgbClr val="232A30"/>
                </a:solidFill>
                <a:latin typeface="Aptos"/>
              </a:rPr>
              <a:t>23CSMPB03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sz="1800" b="0">
                <a:solidFill>
                  <a:srgbClr val="232A30"/>
                </a:solidFill>
                <a:latin typeface="Aptos"/>
              </a:rPr>
              <a:t>• </a:t>
            </a:r>
            <a:r>
              <a:rPr sz="1800" b="1">
                <a:solidFill>
                  <a:srgbClr val="142F4E"/>
                </a:solidFill>
                <a:latin typeface="Aptos"/>
              </a:rPr>
              <a:t>Guide: </a:t>
            </a:r>
            <a:r>
              <a:rPr sz="1800" b="0">
                <a:solidFill>
                  <a:srgbClr val="232A30"/>
                </a:solidFill>
                <a:latin typeface="Aptos"/>
              </a:rPr>
              <a:t>Prof. Habeeb Ur Rehman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25880"/>
            <a:ext cx="5532120" cy="42519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>
            <a:solidFill>
              <a:srgbClr val="D2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150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Project website and source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649224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ptos"/>
              </a:rPr>
              <a:t>Dept. of CSE |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0000"/>
                </a:solidFill>
                <a:latin typeface="Aptos"/>
              </a:rPr>
              <a:t>49</a:t>
            </a:r>
          </a:p>
        </p:txBody>
      </p:sp>
      <p:pic>
        <p:nvPicPr>
          <p:cNvPr id="11" name="Picture 10" descr="qr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210312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40690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42F4E"/>
                </a:solidFill>
                <a:latin typeface="Aptos"/>
              </a:rPr>
              <a:t>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4348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 i="0">
                <a:solidFill>
                  <a:srgbClr val="006B75"/>
                </a:solidFill>
                <a:latin typeface="Aptos"/>
              </a:rPr>
              <a:t>wkai.vercel.app</a:t>
            </a:r>
          </a:p>
        </p:txBody>
      </p:sp>
      <p:pic>
        <p:nvPicPr>
          <p:cNvPr id="14" name="Picture 13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828800"/>
            <a:ext cx="21031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2520" y="40690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42F4E"/>
                </a:solidFill>
                <a:latin typeface="Aptos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4348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 i="0">
                <a:solidFill>
                  <a:srgbClr val="006B75"/>
                </a:solidFill>
                <a:latin typeface="Aptos"/>
              </a:rPr>
              <a:t>github.com/Dinaltium/wkai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</TotalTime>
  <Words>6629</Words>
  <Application>Microsoft Office PowerPoint</Application>
  <PresentationFormat>Widescreen</PresentationFormat>
  <Paragraphs>1181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Calibri Light</vt:lpstr>
      <vt:lpstr>Consolas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ara aras</cp:lastModifiedBy>
  <cp:revision>10</cp:revision>
  <dcterms:created xsi:type="dcterms:W3CDTF">2013-01-27T09:14:16Z</dcterms:created>
  <dcterms:modified xsi:type="dcterms:W3CDTF">2026-10-05T05:01:53Z</dcterms:modified>
  <cp:category/>
</cp:coreProperties>
</file>